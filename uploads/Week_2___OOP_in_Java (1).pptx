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Nunit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regular.fntdata"/><Relationship Id="rId14" Type="http://schemas.openxmlformats.org/officeDocument/2006/relationships/slide" Target="slides/slide9.xml"/><Relationship Id="rId17" Type="http://schemas.openxmlformats.org/officeDocument/2006/relationships/font" Target="fonts/Nunito-italic.fntdata"/><Relationship Id="rId16" Type="http://schemas.openxmlformats.org/officeDocument/2006/relationships/font" Target="fonts/Nunito-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Nuni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7d72d418aa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g37d72d418a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7d72d418aa_0_8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g37d72d418aa_0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7d72d418aa_0_9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g37d72d418aa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7d72d418aa_0_9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g37d72d418aa_0_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7d72d418aa_0_10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g37d72d418aa_0_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7d72d418aa_0_1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g37d72d418aa_0_1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Basic level of security</a:t>
            </a:r>
            <a:endParaRPr/>
          </a:p>
        </p:txBody>
      </p:sp>
      <p:sp>
        <p:nvSpPr>
          <p:cNvPr id="100" name="Google Shape;100;g37d72d418aa_0_1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7d72d418aa_0_19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g37d72d418aa_0_1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7d72d418aa_0_20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g37d72d418aa_0_2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5200"/>
              <a:buFont typeface="Arial"/>
              <a:buNone/>
            </a:pPr>
            <a:r>
              <a:rPr lang="en"/>
              <a:t>Object Oriented Programming In Java</a:t>
            </a:r>
            <a:endParaRPr/>
          </a:p>
        </p:txBody>
      </p:sp>
      <p:sp>
        <p:nvSpPr>
          <p:cNvPr id="61" name="Google Shape;61;p14"/>
          <p:cNvSpPr txBox="1"/>
          <p:nvPr>
            <p:ph idx="1" type="subTitle"/>
          </p:nvPr>
        </p:nvSpPr>
        <p:spPr>
          <a:xfrm>
            <a:off x="311700" y="2834125"/>
            <a:ext cx="8520600" cy="13377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Clr>
                <a:schemeClr val="dk1"/>
              </a:buClr>
              <a:buSzPts val="3613"/>
              <a:buFont typeface="Arial"/>
              <a:buNone/>
            </a:pPr>
            <a:r>
              <a:rPr lang="en"/>
              <a:t>Saurabh Pandey</a:t>
            </a:r>
            <a:endParaRPr/>
          </a:p>
          <a:p>
            <a:pPr indent="0" lvl="0" marL="0" rtl="0" algn="ctr">
              <a:spcBef>
                <a:spcPts val="0"/>
              </a:spcBef>
              <a:spcAft>
                <a:spcPts val="0"/>
              </a:spcAft>
              <a:buClr>
                <a:schemeClr val="dk1"/>
              </a:buClr>
              <a:buSzPts val="3613"/>
              <a:buFont typeface="Arial"/>
              <a:buNone/>
            </a:pPr>
            <a:r>
              <a:rPr lang="en"/>
              <a:t>Associate Professor</a:t>
            </a:r>
            <a:endParaRPr/>
          </a:p>
          <a:p>
            <a:pPr indent="0" lvl="0" marL="0" rtl="0" algn="ctr">
              <a:spcBef>
                <a:spcPts val="0"/>
              </a:spcBef>
              <a:spcAft>
                <a:spcPts val="0"/>
              </a:spcAft>
              <a:buClr>
                <a:schemeClr val="dk1"/>
              </a:buClr>
              <a:buSzPts val="3613"/>
              <a:buFont typeface="Arial"/>
              <a:buNone/>
            </a:pPr>
            <a:r>
              <a:rPr lang="en"/>
              <a:t>Sitare University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628650" y="273844"/>
            <a:ext cx="7886700" cy="485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400"/>
              <a:buFont typeface="Arial"/>
              <a:buNone/>
            </a:pPr>
            <a:r>
              <a:rPr lang="en" sz="2400">
                <a:latin typeface="Arial"/>
                <a:ea typeface="Arial"/>
                <a:cs typeface="Arial"/>
                <a:sym typeface="Arial"/>
              </a:rPr>
              <a:t>Types of Variables : Primitive</a:t>
            </a:r>
            <a:endParaRPr/>
          </a:p>
        </p:txBody>
      </p:sp>
      <p:sp>
        <p:nvSpPr>
          <p:cNvPr id="67" name="Google Shape;67;p15"/>
          <p:cNvSpPr txBox="1"/>
          <p:nvPr>
            <p:ph idx="1" type="body"/>
          </p:nvPr>
        </p:nvSpPr>
        <p:spPr>
          <a:xfrm>
            <a:off x="628650" y="848033"/>
            <a:ext cx="7886700" cy="3784800"/>
          </a:xfrm>
          <a:prstGeom prst="rect">
            <a:avLst/>
          </a:prstGeom>
          <a:noFill/>
          <a:ln>
            <a:noFill/>
          </a:ln>
        </p:spPr>
        <p:txBody>
          <a:bodyPr anchorCtr="0" anchor="t" bIns="34275" lIns="68575" spcFirstLastPara="1" rIns="68575" wrap="square" tIns="34275">
            <a:normAutofit/>
          </a:bodyPr>
          <a:lstStyle/>
          <a:p>
            <a:pPr indent="-336550" lvl="0" marL="342900" rtl="0" algn="l">
              <a:lnSpc>
                <a:spcPct val="90000"/>
              </a:lnSpc>
              <a:spcBef>
                <a:spcPts val="0"/>
              </a:spcBef>
              <a:spcAft>
                <a:spcPts val="0"/>
              </a:spcAft>
              <a:buClr>
                <a:schemeClr val="dk1"/>
              </a:buClr>
              <a:buSzPts val="1500"/>
              <a:buAutoNum type="arabicPeriod"/>
            </a:pPr>
            <a:r>
              <a:rPr lang="en" sz="1500">
                <a:latin typeface="Arial"/>
                <a:ea typeface="Arial"/>
                <a:cs typeface="Arial"/>
                <a:sym typeface="Arial"/>
              </a:rPr>
              <a:t>Primitive</a:t>
            </a:r>
            <a:endParaRPr/>
          </a:p>
          <a:p>
            <a:pPr indent="-336550" lvl="0" marL="342900" rtl="0" algn="l">
              <a:lnSpc>
                <a:spcPct val="90000"/>
              </a:lnSpc>
              <a:spcBef>
                <a:spcPts val="800"/>
              </a:spcBef>
              <a:spcAft>
                <a:spcPts val="0"/>
              </a:spcAft>
              <a:buClr>
                <a:schemeClr val="dk1"/>
              </a:buClr>
              <a:buSzPts val="1500"/>
              <a:buAutoNum type="arabicPeriod"/>
            </a:pPr>
            <a:r>
              <a:rPr lang="en" sz="1500">
                <a:latin typeface="Arial"/>
                <a:ea typeface="Arial"/>
                <a:cs typeface="Arial"/>
                <a:sym typeface="Arial"/>
              </a:rPr>
              <a:t>Reference or object variable</a:t>
            </a:r>
            <a:endParaRPr b="1" sz="1500">
              <a:latin typeface="Arial"/>
              <a:ea typeface="Arial"/>
              <a:cs typeface="Arial"/>
              <a:sym typeface="Arial"/>
            </a:endParaRPr>
          </a:p>
          <a:p>
            <a:pPr indent="0" lvl="0" marL="0" rtl="0" algn="l">
              <a:lnSpc>
                <a:spcPct val="90000"/>
              </a:lnSpc>
              <a:spcBef>
                <a:spcPts val="800"/>
              </a:spcBef>
              <a:spcAft>
                <a:spcPts val="1200"/>
              </a:spcAft>
              <a:buClr>
                <a:schemeClr val="dk1"/>
              </a:buClr>
              <a:buSzPts val="1500"/>
              <a:buNone/>
            </a:pPr>
            <a:r>
              <a:t/>
            </a:r>
            <a:endParaRPr sz="1500">
              <a:latin typeface="Arial"/>
              <a:ea typeface="Arial"/>
              <a:cs typeface="Arial"/>
              <a:sym typeface="Arial"/>
            </a:endParaRPr>
          </a:p>
        </p:txBody>
      </p:sp>
      <p:pic>
        <p:nvPicPr>
          <p:cNvPr id="68" name="Google Shape;68;p15"/>
          <p:cNvPicPr preferRelativeResize="0"/>
          <p:nvPr/>
        </p:nvPicPr>
        <p:blipFill rotWithShape="1">
          <a:blip r:embed="rId3">
            <a:alphaModFix/>
          </a:blip>
          <a:srcRect b="0" l="0" r="0" t="0"/>
          <a:stretch/>
        </p:blipFill>
        <p:spPr>
          <a:xfrm>
            <a:off x="1943671" y="1411939"/>
            <a:ext cx="5408400" cy="308900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628650" y="273844"/>
            <a:ext cx="7886700" cy="485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400"/>
              <a:buFont typeface="Arial"/>
              <a:buNone/>
            </a:pPr>
            <a:r>
              <a:rPr lang="en" sz="2400">
                <a:latin typeface="Arial"/>
                <a:ea typeface="Arial"/>
                <a:cs typeface="Arial"/>
                <a:sym typeface="Arial"/>
              </a:rPr>
              <a:t>Types of Variables : Primitive</a:t>
            </a:r>
            <a:endParaRPr/>
          </a:p>
        </p:txBody>
      </p:sp>
      <p:sp>
        <p:nvSpPr>
          <p:cNvPr id="74" name="Google Shape;74;p16"/>
          <p:cNvSpPr txBox="1"/>
          <p:nvPr>
            <p:ph idx="1" type="body"/>
          </p:nvPr>
        </p:nvSpPr>
        <p:spPr>
          <a:xfrm>
            <a:off x="628650" y="848033"/>
            <a:ext cx="7284000" cy="37848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1500"/>
              <a:buNone/>
            </a:pPr>
            <a:r>
              <a:rPr b="1" lang="en" sz="1500">
                <a:latin typeface="Arial"/>
                <a:ea typeface="Arial"/>
                <a:cs typeface="Arial"/>
                <a:sym typeface="Arial"/>
              </a:rPr>
              <a:t>Primitive:</a:t>
            </a:r>
            <a:endParaRPr/>
          </a:p>
          <a:p>
            <a:pPr indent="0" lvl="0" marL="0" rtl="0" algn="l">
              <a:lnSpc>
                <a:spcPct val="90000"/>
              </a:lnSpc>
              <a:spcBef>
                <a:spcPts val="800"/>
              </a:spcBef>
              <a:spcAft>
                <a:spcPts val="0"/>
              </a:spcAft>
              <a:buClr>
                <a:schemeClr val="dk1"/>
              </a:buClr>
              <a:buSzPts val="1500"/>
              <a:buNone/>
            </a:pPr>
            <a:r>
              <a:rPr lang="en" sz="1500">
                <a:latin typeface="Arial"/>
                <a:ea typeface="Arial"/>
                <a:cs typeface="Arial"/>
                <a:sym typeface="Arial"/>
              </a:rPr>
              <a:t>*Java thinks anything with a floating point is a double, unless you use ‘f’.</a:t>
            </a:r>
            <a:endParaRPr/>
          </a:p>
          <a:p>
            <a:pPr indent="0" lvl="0" marL="0" rtl="0" algn="l">
              <a:lnSpc>
                <a:spcPct val="90000"/>
              </a:lnSpc>
              <a:spcBef>
                <a:spcPts val="800"/>
              </a:spcBef>
              <a:spcAft>
                <a:spcPts val="1200"/>
              </a:spcAft>
              <a:buClr>
                <a:schemeClr val="dk1"/>
              </a:buClr>
              <a:buSzPts val="1500"/>
              <a:buNone/>
            </a:pPr>
            <a:r>
              <a:rPr lang="en" sz="1500">
                <a:latin typeface="Arial"/>
                <a:ea typeface="Arial"/>
                <a:cs typeface="Arial"/>
                <a:sym typeface="Arial"/>
              </a:rPr>
              <a:t>*</a:t>
            </a:r>
            <a:r>
              <a:rPr b="0" i="0" lang="en" sz="1500">
                <a:solidFill>
                  <a:srgbClr val="040C28"/>
                </a:solidFill>
                <a:highlight>
                  <a:srgbClr val="D3E3FD"/>
                </a:highlight>
                <a:latin typeface="Arial"/>
                <a:ea typeface="Arial"/>
                <a:cs typeface="Arial"/>
                <a:sym typeface="Arial"/>
              </a:rPr>
              <a:t>Floats can represent decimal values up to 7 digits of precision</a:t>
            </a:r>
            <a:r>
              <a:rPr b="0" i="0" lang="en" sz="1500">
                <a:solidFill>
                  <a:srgbClr val="4D5156"/>
                </a:solidFill>
                <a:highlight>
                  <a:srgbClr val="FFFFFF"/>
                </a:highlight>
                <a:latin typeface="Arial"/>
                <a:ea typeface="Arial"/>
                <a:cs typeface="Arial"/>
                <a:sym typeface="Arial"/>
              </a:rPr>
              <a:t>, and double can represent decimal values up to 16 digits of precision.</a:t>
            </a:r>
            <a:endParaRPr sz="1500">
              <a:latin typeface="Arial"/>
              <a:ea typeface="Arial"/>
              <a:cs typeface="Arial"/>
              <a:sym typeface="Arial"/>
            </a:endParaRPr>
          </a:p>
        </p:txBody>
      </p:sp>
      <p:pic>
        <p:nvPicPr>
          <p:cNvPr id="75" name="Google Shape;75;p16"/>
          <p:cNvPicPr preferRelativeResize="0"/>
          <p:nvPr/>
        </p:nvPicPr>
        <p:blipFill rotWithShape="1">
          <a:blip r:embed="rId3">
            <a:alphaModFix/>
          </a:blip>
          <a:srcRect b="0" l="0" r="0" t="0"/>
          <a:stretch/>
        </p:blipFill>
        <p:spPr>
          <a:xfrm>
            <a:off x="719654" y="2068617"/>
            <a:ext cx="4464403" cy="256410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628650" y="273844"/>
            <a:ext cx="7886700" cy="485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400"/>
              <a:buFont typeface="Arial"/>
              <a:buNone/>
            </a:pPr>
            <a:r>
              <a:rPr lang="en" sz="2400">
                <a:latin typeface="Arial"/>
                <a:ea typeface="Arial"/>
                <a:cs typeface="Arial"/>
                <a:sym typeface="Arial"/>
              </a:rPr>
              <a:t>Types of Variables : Primitive</a:t>
            </a:r>
            <a:endParaRPr/>
          </a:p>
        </p:txBody>
      </p:sp>
      <p:sp>
        <p:nvSpPr>
          <p:cNvPr id="81" name="Google Shape;81;p17"/>
          <p:cNvSpPr txBox="1"/>
          <p:nvPr>
            <p:ph idx="1" type="body"/>
          </p:nvPr>
        </p:nvSpPr>
        <p:spPr>
          <a:xfrm>
            <a:off x="628650" y="848033"/>
            <a:ext cx="7284000" cy="37848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1500"/>
              <a:buNone/>
            </a:pPr>
            <a:r>
              <a:rPr b="1" lang="en" sz="1500">
                <a:latin typeface="Arial"/>
                <a:ea typeface="Arial"/>
                <a:cs typeface="Arial"/>
                <a:sym typeface="Arial"/>
              </a:rPr>
              <a:t>Variable Names:</a:t>
            </a:r>
            <a:endParaRPr/>
          </a:p>
          <a:p>
            <a:pPr indent="0" lvl="0" marL="0" rtl="0" algn="l">
              <a:lnSpc>
                <a:spcPct val="90000"/>
              </a:lnSpc>
              <a:spcBef>
                <a:spcPts val="800"/>
              </a:spcBef>
              <a:spcAft>
                <a:spcPts val="0"/>
              </a:spcAft>
              <a:buClr>
                <a:schemeClr val="dk1"/>
              </a:buClr>
              <a:buSzPts val="1500"/>
              <a:buNone/>
            </a:pPr>
            <a:r>
              <a:rPr lang="en" sz="1500">
                <a:latin typeface="Arial"/>
                <a:ea typeface="Arial"/>
                <a:cs typeface="Arial"/>
                <a:sym typeface="Arial"/>
              </a:rPr>
              <a:t>you need a name and a type for your variables.</a:t>
            </a:r>
            <a:endParaRPr/>
          </a:p>
          <a:p>
            <a:pPr indent="-171450" lvl="0" marL="177800" rtl="0" algn="l">
              <a:lnSpc>
                <a:spcPct val="90000"/>
              </a:lnSpc>
              <a:spcBef>
                <a:spcPts val="800"/>
              </a:spcBef>
              <a:spcAft>
                <a:spcPts val="0"/>
              </a:spcAft>
              <a:buClr>
                <a:schemeClr val="dk1"/>
              </a:buClr>
              <a:buSzPts val="1500"/>
              <a:buChar char="●"/>
            </a:pPr>
            <a:r>
              <a:rPr lang="en" sz="1500">
                <a:latin typeface="Arial"/>
                <a:ea typeface="Arial"/>
                <a:cs typeface="Arial"/>
                <a:sym typeface="Arial"/>
              </a:rPr>
              <a:t>It must start with a letter, underscore (_), or dollar sign ($). You can’t start a name with a number.</a:t>
            </a:r>
            <a:endParaRPr/>
          </a:p>
          <a:p>
            <a:pPr indent="-171450" lvl="0" marL="177800" rtl="0" algn="l">
              <a:lnSpc>
                <a:spcPct val="90000"/>
              </a:lnSpc>
              <a:spcBef>
                <a:spcPts val="800"/>
              </a:spcBef>
              <a:spcAft>
                <a:spcPts val="0"/>
              </a:spcAft>
              <a:buClr>
                <a:schemeClr val="dk1"/>
              </a:buClr>
              <a:buSzPts val="1500"/>
              <a:buChar char="●"/>
            </a:pPr>
            <a:r>
              <a:rPr lang="en" sz="1500">
                <a:latin typeface="Arial"/>
                <a:ea typeface="Arial"/>
                <a:cs typeface="Arial"/>
                <a:sym typeface="Arial"/>
              </a:rPr>
              <a:t>After the first character, you can use numbers as well. Just don’t start it with a number.</a:t>
            </a:r>
            <a:endParaRPr/>
          </a:p>
          <a:p>
            <a:pPr indent="-171450" lvl="0" marL="177800" rtl="0" algn="l">
              <a:lnSpc>
                <a:spcPct val="90000"/>
              </a:lnSpc>
              <a:spcBef>
                <a:spcPts val="800"/>
              </a:spcBef>
              <a:spcAft>
                <a:spcPts val="1200"/>
              </a:spcAft>
              <a:buClr>
                <a:schemeClr val="dk1"/>
              </a:buClr>
              <a:buSzPts val="1500"/>
              <a:buChar char="●"/>
            </a:pPr>
            <a:r>
              <a:rPr lang="en" sz="1500">
                <a:latin typeface="Arial"/>
                <a:ea typeface="Arial"/>
                <a:cs typeface="Arial"/>
                <a:sym typeface="Arial"/>
              </a:rPr>
              <a:t>It can be anything you like, subject to those two rules, just so long as it isn’t one of Java’s reserve words.</a:t>
            </a:r>
            <a:endParaRPr sz="15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628650" y="273844"/>
            <a:ext cx="7886700" cy="485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400"/>
              <a:buFont typeface="Arial"/>
              <a:buNone/>
            </a:pPr>
            <a:r>
              <a:rPr lang="en" sz="2400">
                <a:latin typeface="Arial"/>
                <a:ea typeface="Arial"/>
                <a:cs typeface="Arial"/>
                <a:sym typeface="Arial"/>
              </a:rPr>
              <a:t>Types of Variables : Reference or Object variable</a:t>
            </a:r>
            <a:endParaRPr/>
          </a:p>
        </p:txBody>
      </p:sp>
      <p:sp>
        <p:nvSpPr>
          <p:cNvPr id="87" name="Google Shape;87;p18"/>
          <p:cNvSpPr txBox="1"/>
          <p:nvPr>
            <p:ph idx="1" type="body"/>
          </p:nvPr>
        </p:nvSpPr>
        <p:spPr>
          <a:xfrm>
            <a:off x="628650" y="848033"/>
            <a:ext cx="7284000" cy="37848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1500"/>
              <a:buNone/>
            </a:pPr>
            <a:r>
              <a:rPr lang="en" sz="1500">
                <a:latin typeface="Arial"/>
                <a:ea typeface="Arial"/>
                <a:cs typeface="Arial"/>
                <a:sym typeface="Arial"/>
              </a:rPr>
              <a:t>Object Variable:</a:t>
            </a:r>
            <a:endParaRPr/>
          </a:p>
          <a:p>
            <a:pPr indent="-171450" lvl="0" marL="177800" rtl="0" algn="l">
              <a:lnSpc>
                <a:spcPct val="90000"/>
              </a:lnSpc>
              <a:spcBef>
                <a:spcPts val="800"/>
              </a:spcBef>
              <a:spcAft>
                <a:spcPts val="0"/>
              </a:spcAft>
              <a:buClr>
                <a:schemeClr val="dk1"/>
              </a:buClr>
              <a:buSzPts val="1500"/>
              <a:buChar char="●"/>
            </a:pPr>
            <a:r>
              <a:rPr lang="en" sz="1500">
                <a:latin typeface="Arial"/>
                <a:ea typeface="Arial"/>
                <a:cs typeface="Arial"/>
                <a:sym typeface="Arial"/>
              </a:rPr>
              <a:t>There is actually no such thing as an object variable.</a:t>
            </a:r>
            <a:endParaRPr/>
          </a:p>
          <a:p>
            <a:pPr indent="-171450" lvl="0" marL="177800" rtl="0" algn="l">
              <a:lnSpc>
                <a:spcPct val="90000"/>
              </a:lnSpc>
              <a:spcBef>
                <a:spcPts val="800"/>
              </a:spcBef>
              <a:spcAft>
                <a:spcPts val="0"/>
              </a:spcAft>
              <a:buClr>
                <a:schemeClr val="dk1"/>
              </a:buClr>
              <a:buSzPts val="1500"/>
              <a:buChar char="●"/>
            </a:pPr>
            <a:r>
              <a:rPr lang="en" sz="1500">
                <a:latin typeface="Arial"/>
                <a:ea typeface="Arial"/>
                <a:cs typeface="Arial"/>
                <a:sym typeface="Arial"/>
              </a:rPr>
              <a:t>There’s only an object reference variable.</a:t>
            </a:r>
            <a:endParaRPr/>
          </a:p>
          <a:p>
            <a:pPr indent="-171450" lvl="0" marL="177800" rtl="0" algn="l">
              <a:lnSpc>
                <a:spcPct val="90000"/>
              </a:lnSpc>
              <a:spcBef>
                <a:spcPts val="800"/>
              </a:spcBef>
              <a:spcAft>
                <a:spcPts val="0"/>
              </a:spcAft>
              <a:buClr>
                <a:schemeClr val="dk1"/>
              </a:buClr>
              <a:buSzPts val="1500"/>
              <a:buChar char="●"/>
            </a:pPr>
            <a:r>
              <a:rPr lang="en" sz="1500">
                <a:latin typeface="Arial"/>
                <a:ea typeface="Arial"/>
                <a:cs typeface="Arial"/>
                <a:sym typeface="Arial"/>
              </a:rPr>
              <a:t>An object reference variable holds bits that represent a way to access an object.</a:t>
            </a:r>
            <a:endParaRPr/>
          </a:p>
          <a:p>
            <a:pPr indent="-171450" lvl="0" marL="177800" rtl="0" algn="l">
              <a:lnSpc>
                <a:spcPct val="90000"/>
              </a:lnSpc>
              <a:spcBef>
                <a:spcPts val="800"/>
              </a:spcBef>
              <a:spcAft>
                <a:spcPts val="0"/>
              </a:spcAft>
              <a:buClr>
                <a:schemeClr val="dk1"/>
              </a:buClr>
              <a:buSzPts val="1500"/>
              <a:buChar char="●"/>
            </a:pPr>
            <a:r>
              <a:rPr lang="en" sz="1500">
                <a:latin typeface="Arial"/>
                <a:ea typeface="Arial"/>
                <a:cs typeface="Arial"/>
                <a:sym typeface="Arial"/>
              </a:rPr>
              <a:t>It doesn’t hold the object itself, but it holds something like a pointer. Or an address. Except, in Java we don’t really know what is inside a reference variable. We do know that whatever it is, it represents one and only one object. And the JVM knows how to use the reference to get to the object. </a:t>
            </a:r>
            <a:r>
              <a:rPr b="1" lang="en" sz="1500">
                <a:latin typeface="Arial"/>
                <a:ea typeface="Arial"/>
                <a:cs typeface="Arial"/>
                <a:sym typeface="Arial"/>
              </a:rPr>
              <a:t>Object is always created in Garbage collectible heap.</a:t>
            </a:r>
            <a:endParaRPr/>
          </a:p>
          <a:p>
            <a:pPr indent="0" lvl="0" marL="0" rtl="0" algn="l">
              <a:lnSpc>
                <a:spcPct val="90000"/>
              </a:lnSpc>
              <a:spcBef>
                <a:spcPts val="800"/>
              </a:spcBef>
              <a:spcAft>
                <a:spcPts val="1200"/>
              </a:spcAft>
              <a:buClr>
                <a:schemeClr val="dk1"/>
              </a:buClr>
              <a:buSzPts val="1500"/>
              <a:buNone/>
            </a:pPr>
            <a:r>
              <a:t/>
            </a:r>
            <a:endParaRPr sz="1500">
              <a:latin typeface="Arial"/>
              <a:ea typeface="Arial"/>
              <a:cs typeface="Arial"/>
              <a:sym typeface="Arial"/>
            </a:endParaRPr>
          </a:p>
        </p:txBody>
      </p:sp>
      <p:pic>
        <p:nvPicPr>
          <p:cNvPr id="88" name="Google Shape;88;p18"/>
          <p:cNvPicPr preferRelativeResize="0"/>
          <p:nvPr/>
        </p:nvPicPr>
        <p:blipFill rotWithShape="1">
          <a:blip r:embed="rId3">
            <a:alphaModFix/>
          </a:blip>
          <a:srcRect b="0" l="0" r="0" t="0"/>
          <a:stretch/>
        </p:blipFill>
        <p:spPr>
          <a:xfrm>
            <a:off x="628650" y="3286267"/>
            <a:ext cx="3148221" cy="1243216"/>
          </a:xfrm>
          <a:prstGeom prst="rect">
            <a:avLst/>
          </a:prstGeom>
          <a:noFill/>
          <a:ln>
            <a:noFill/>
          </a:ln>
        </p:spPr>
      </p:pic>
      <p:pic>
        <p:nvPicPr>
          <p:cNvPr id="89" name="Google Shape;89;p18"/>
          <p:cNvPicPr preferRelativeResize="0"/>
          <p:nvPr/>
        </p:nvPicPr>
        <p:blipFill rotWithShape="1">
          <a:blip r:embed="rId4">
            <a:alphaModFix/>
          </a:blip>
          <a:srcRect b="0" l="0" r="0" t="0"/>
          <a:stretch/>
        </p:blipFill>
        <p:spPr>
          <a:xfrm>
            <a:off x="4110164" y="3362633"/>
            <a:ext cx="1022275" cy="1243215"/>
          </a:xfrm>
          <a:prstGeom prst="rect">
            <a:avLst/>
          </a:prstGeom>
          <a:noFill/>
          <a:ln>
            <a:noFill/>
          </a:ln>
        </p:spPr>
      </p:pic>
      <p:pic>
        <p:nvPicPr>
          <p:cNvPr id="90" name="Google Shape;90;p18"/>
          <p:cNvPicPr preferRelativeResize="0"/>
          <p:nvPr/>
        </p:nvPicPr>
        <p:blipFill rotWithShape="1">
          <a:blip r:embed="rId5">
            <a:alphaModFix/>
          </a:blip>
          <a:srcRect b="0" l="0" r="0" t="0"/>
          <a:stretch/>
        </p:blipFill>
        <p:spPr>
          <a:xfrm>
            <a:off x="5940623" y="3247378"/>
            <a:ext cx="2178364" cy="128210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628650" y="273844"/>
            <a:ext cx="7886700" cy="485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400"/>
              <a:buFont typeface="Arial"/>
              <a:buNone/>
            </a:pPr>
            <a:r>
              <a:rPr lang="en" sz="2400">
                <a:latin typeface="Arial"/>
                <a:ea typeface="Arial"/>
                <a:cs typeface="Arial"/>
                <a:sym typeface="Arial"/>
              </a:rPr>
              <a:t>Life and death on garbage collectible heap</a:t>
            </a:r>
            <a:endParaRPr/>
          </a:p>
        </p:txBody>
      </p:sp>
      <p:sp>
        <p:nvSpPr>
          <p:cNvPr id="96" name="Google Shape;96;p19"/>
          <p:cNvSpPr txBox="1"/>
          <p:nvPr>
            <p:ph idx="1" type="body"/>
          </p:nvPr>
        </p:nvSpPr>
        <p:spPr>
          <a:xfrm>
            <a:off x="628650" y="848033"/>
            <a:ext cx="7284000" cy="37848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1500"/>
              <a:buNone/>
            </a:pPr>
            <a:r>
              <a:rPr lang="en" sz="1500">
                <a:latin typeface="Arial"/>
                <a:ea typeface="Arial"/>
                <a:cs typeface="Arial"/>
                <a:sym typeface="Arial"/>
              </a:rPr>
              <a:t>Book b = new Book();</a:t>
            </a:r>
            <a:endParaRPr/>
          </a:p>
          <a:p>
            <a:pPr indent="0" lvl="0" marL="0" rtl="0" algn="l">
              <a:lnSpc>
                <a:spcPct val="90000"/>
              </a:lnSpc>
              <a:spcBef>
                <a:spcPts val="800"/>
              </a:spcBef>
              <a:spcAft>
                <a:spcPts val="0"/>
              </a:spcAft>
              <a:buClr>
                <a:schemeClr val="dk1"/>
              </a:buClr>
              <a:buSzPts val="1500"/>
              <a:buNone/>
            </a:pPr>
            <a:r>
              <a:rPr lang="en" sz="1500">
                <a:latin typeface="Arial"/>
                <a:ea typeface="Arial"/>
                <a:cs typeface="Arial"/>
                <a:sym typeface="Arial"/>
              </a:rPr>
              <a:t>Book c = new Book();</a:t>
            </a:r>
            <a:endParaRPr/>
          </a:p>
          <a:p>
            <a:pPr indent="0" lvl="0" marL="0" rtl="0" algn="l">
              <a:lnSpc>
                <a:spcPct val="90000"/>
              </a:lnSpc>
              <a:spcBef>
                <a:spcPts val="800"/>
              </a:spcBef>
              <a:spcAft>
                <a:spcPts val="0"/>
              </a:spcAft>
              <a:buClr>
                <a:schemeClr val="dk1"/>
              </a:buClr>
              <a:buSzPts val="1500"/>
              <a:buNone/>
            </a:pPr>
            <a:r>
              <a:rPr lang="en" sz="1500">
                <a:latin typeface="Arial"/>
                <a:ea typeface="Arial"/>
                <a:cs typeface="Arial"/>
                <a:sym typeface="Arial"/>
              </a:rPr>
              <a:t>Book d = c;</a:t>
            </a:r>
            <a:endParaRPr/>
          </a:p>
          <a:p>
            <a:pPr indent="0" lvl="0" marL="0" rtl="0" algn="l">
              <a:lnSpc>
                <a:spcPct val="90000"/>
              </a:lnSpc>
              <a:spcBef>
                <a:spcPts val="800"/>
              </a:spcBef>
              <a:spcAft>
                <a:spcPts val="0"/>
              </a:spcAft>
              <a:buClr>
                <a:schemeClr val="dk1"/>
              </a:buClr>
              <a:buSzPts val="1500"/>
              <a:buNone/>
            </a:pPr>
            <a:r>
              <a:rPr lang="en" sz="1500">
                <a:latin typeface="Arial"/>
                <a:ea typeface="Arial"/>
                <a:cs typeface="Arial"/>
                <a:sym typeface="Arial"/>
              </a:rPr>
              <a:t>c = b;</a:t>
            </a:r>
            <a:endParaRPr/>
          </a:p>
          <a:p>
            <a:pPr indent="0" lvl="0" marL="0" rtl="0" algn="l">
              <a:lnSpc>
                <a:spcPct val="90000"/>
              </a:lnSpc>
              <a:spcBef>
                <a:spcPts val="800"/>
              </a:spcBef>
              <a:spcAft>
                <a:spcPts val="0"/>
              </a:spcAft>
              <a:buClr>
                <a:schemeClr val="dk1"/>
              </a:buClr>
              <a:buSzPts val="1500"/>
              <a:buNone/>
            </a:pPr>
            <a:r>
              <a:rPr lang="en" sz="1500">
                <a:latin typeface="Arial"/>
                <a:ea typeface="Arial"/>
                <a:cs typeface="Arial"/>
                <a:sym typeface="Arial"/>
              </a:rPr>
              <a:t>D = null;</a:t>
            </a:r>
            <a:endParaRPr/>
          </a:p>
          <a:p>
            <a:pPr indent="0" lvl="0" marL="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ts val="1500"/>
              <a:buNone/>
            </a:pPr>
            <a:r>
              <a:rPr lang="en" sz="1500">
                <a:latin typeface="Arial"/>
                <a:ea typeface="Arial"/>
                <a:cs typeface="Arial"/>
                <a:sym typeface="Arial"/>
              </a:rPr>
              <a:t>Show pictorial presentation.</a:t>
            </a:r>
            <a:endParaRPr/>
          </a:p>
          <a:p>
            <a:pPr indent="0" lvl="0" marL="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0" lvl="0" marL="0" rtl="0" algn="l">
              <a:lnSpc>
                <a:spcPct val="90000"/>
              </a:lnSpc>
              <a:spcBef>
                <a:spcPts val="800"/>
              </a:spcBef>
              <a:spcAft>
                <a:spcPts val="1200"/>
              </a:spcAft>
              <a:buClr>
                <a:schemeClr val="dk1"/>
              </a:buClr>
              <a:buSzPts val="1500"/>
              <a:buNone/>
            </a:pPr>
            <a:r>
              <a:t/>
            </a:r>
            <a:endParaRPr sz="150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1" name="Shape 101"/>
        <p:cNvGrpSpPr/>
        <p:nvPr/>
      </p:nvGrpSpPr>
      <p:grpSpPr>
        <a:xfrm>
          <a:off x="0" y="0"/>
          <a:ext cx="0" cy="0"/>
          <a:chOff x="0" y="0"/>
          <a:chExt cx="0" cy="0"/>
        </a:xfrm>
      </p:grpSpPr>
      <p:sp>
        <p:nvSpPr>
          <p:cNvPr id="102" name="Google Shape;102;p20"/>
          <p:cNvSpPr/>
          <p:nvPr/>
        </p:nvSpPr>
        <p:spPr>
          <a:xfrm>
            <a:off x="0" y="0"/>
            <a:ext cx="91419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3" name="Google Shape;103;p20"/>
          <p:cNvSpPr txBox="1"/>
          <p:nvPr>
            <p:ph type="title"/>
          </p:nvPr>
        </p:nvSpPr>
        <p:spPr>
          <a:xfrm>
            <a:off x="471488" y="205383"/>
            <a:ext cx="5915100" cy="7458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4100"/>
              <a:buFont typeface="Calibri"/>
              <a:buNone/>
            </a:pPr>
            <a:r>
              <a:rPr b="1" lang="en" sz="4100">
                <a:latin typeface="Calibri"/>
                <a:ea typeface="Calibri"/>
                <a:cs typeface="Calibri"/>
                <a:sym typeface="Calibri"/>
              </a:rPr>
              <a:t>Encapsulation</a:t>
            </a:r>
            <a:endParaRPr/>
          </a:p>
        </p:txBody>
      </p:sp>
      <p:sp>
        <p:nvSpPr>
          <p:cNvPr id="104" name="Google Shape;104;p20"/>
          <p:cNvSpPr/>
          <p:nvPr/>
        </p:nvSpPr>
        <p:spPr>
          <a:xfrm>
            <a:off x="501777" y="1258030"/>
            <a:ext cx="8140446" cy="13716"/>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30950">
            <a:solidFill>
              <a:schemeClr val="accen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5" name="Google Shape;105;p20"/>
          <p:cNvSpPr txBox="1"/>
          <p:nvPr>
            <p:ph idx="1" type="body"/>
          </p:nvPr>
        </p:nvSpPr>
        <p:spPr>
          <a:xfrm>
            <a:off x="628650" y="1447038"/>
            <a:ext cx="7886700" cy="3189000"/>
          </a:xfrm>
          <a:prstGeom prst="rect">
            <a:avLst/>
          </a:prstGeom>
          <a:noFill/>
          <a:ln>
            <a:noFill/>
          </a:ln>
        </p:spPr>
        <p:txBody>
          <a:bodyPr anchorCtr="0" anchor="t" bIns="34275" lIns="68575" spcFirstLastPara="1" rIns="68575" wrap="square" tIns="34275">
            <a:normAutofit lnSpcReduction="10000"/>
          </a:bodyPr>
          <a:lstStyle/>
          <a:p>
            <a:pPr indent="0" lvl="0" marL="0" rtl="0" algn="l">
              <a:lnSpc>
                <a:spcPct val="90000"/>
              </a:lnSpc>
              <a:spcBef>
                <a:spcPts val="0"/>
              </a:spcBef>
              <a:spcAft>
                <a:spcPts val="0"/>
              </a:spcAft>
              <a:buClr>
                <a:schemeClr val="dk1"/>
              </a:buClr>
              <a:buSzPts val="1100"/>
              <a:buNone/>
            </a:pPr>
            <a:r>
              <a:rPr lang="en" sz="1100"/>
              <a:t>Encapsulation </a:t>
            </a:r>
            <a:r>
              <a:rPr b="0" i="0" lang="en" sz="1100" u="none" strike="noStrike">
                <a:highlight>
                  <a:srgbClr val="FFFFFF"/>
                </a:highlight>
              </a:rPr>
              <a:t>is the process that binds together the data and code into a single unit and keeps both from being safe from outside interference and misuse. In this process, the data is hidden from other classes and can be accessed only through the current class’s methods. Hence, it is also known as </a:t>
            </a:r>
            <a:r>
              <a:rPr b="1" i="0" lang="en" sz="1100" u="none" strike="noStrike">
                <a:highlight>
                  <a:srgbClr val="FFFFFF"/>
                </a:highlight>
              </a:rPr>
              <a:t>data hiding.</a:t>
            </a:r>
            <a:endParaRPr/>
          </a:p>
          <a:p>
            <a:pPr indent="0" lvl="0" marL="0" rtl="0" algn="l">
              <a:lnSpc>
                <a:spcPct val="90000"/>
              </a:lnSpc>
              <a:spcBef>
                <a:spcPts val="800"/>
              </a:spcBef>
              <a:spcAft>
                <a:spcPts val="0"/>
              </a:spcAft>
              <a:buClr>
                <a:schemeClr val="dk1"/>
              </a:buClr>
              <a:buSzPts val="1100"/>
              <a:buNone/>
            </a:pPr>
            <a:r>
              <a:t/>
            </a:r>
            <a:endParaRPr b="0" i="0" sz="1100" u="none" strike="noStrike"/>
          </a:p>
          <a:p>
            <a:pPr indent="0" lvl="0" marL="0" rtl="0" algn="l">
              <a:lnSpc>
                <a:spcPct val="90000"/>
              </a:lnSpc>
              <a:spcBef>
                <a:spcPts val="800"/>
              </a:spcBef>
              <a:spcAft>
                <a:spcPts val="0"/>
              </a:spcAft>
              <a:buClr>
                <a:schemeClr val="dk1"/>
              </a:buClr>
              <a:buSzPts val="1100"/>
              <a:buNone/>
            </a:pPr>
            <a:r>
              <a:rPr b="1" i="0" lang="en" sz="1100" u="none" strike="noStrike"/>
              <a:t>To achieve encapsulation in java, follow certain steps as proposed below:</a:t>
            </a:r>
            <a:endParaRPr/>
          </a:p>
          <a:p>
            <a:pPr indent="-171450" lvl="0" marL="177800" rtl="0" algn="l">
              <a:lnSpc>
                <a:spcPct val="90000"/>
              </a:lnSpc>
              <a:spcBef>
                <a:spcPts val="800"/>
              </a:spcBef>
              <a:spcAft>
                <a:spcPts val="0"/>
              </a:spcAft>
              <a:buClr>
                <a:schemeClr val="dk1"/>
              </a:buClr>
              <a:buSzPts val="1100"/>
              <a:buFont typeface="Arial"/>
              <a:buChar char="•"/>
            </a:pPr>
            <a:r>
              <a:rPr b="0" i="0" lang="en" sz="1100" u="none" strike="noStrike"/>
              <a:t>Declare the variables as private</a:t>
            </a:r>
            <a:endParaRPr/>
          </a:p>
          <a:p>
            <a:pPr indent="-171450" lvl="0" marL="177800" rtl="0" algn="l">
              <a:lnSpc>
                <a:spcPct val="90000"/>
              </a:lnSpc>
              <a:spcBef>
                <a:spcPts val="800"/>
              </a:spcBef>
              <a:spcAft>
                <a:spcPts val="0"/>
              </a:spcAft>
              <a:buClr>
                <a:schemeClr val="dk1"/>
              </a:buClr>
              <a:buSzPts val="1100"/>
              <a:buFont typeface="Arial"/>
              <a:buChar char="•"/>
            </a:pPr>
            <a:r>
              <a:rPr b="0" i="0" lang="en" sz="1100" u="none" strike="noStrike"/>
              <a:t>Declare the setters and getters to set and get the variable values</a:t>
            </a:r>
            <a:endParaRPr/>
          </a:p>
          <a:p>
            <a:pPr indent="0" lvl="0" marL="0" rtl="0" algn="l">
              <a:lnSpc>
                <a:spcPct val="90000"/>
              </a:lnSpc>
              <a:spcBef>
                <a:spcPts val="800"/>
              </a:spcBef>
              <a:spcAft>
                <a:spcPts val="0"/>
              </a:spcAft>
              <a:buClr>
                <a:schemeClr val="dk1"/>
              </a:buClr>
              <a:buSzPts val="1100"/>
              <a:buNone/>
            </a:pPr>
            <a:r>
              <a:t/>
            </a:r>
            <a:endParaRPr b="0" sz="1100" u="none" strike="noStrike"/>
          </a:p>
          <a:p>
            <a:pPr indent="0" lvl="0" marL="0" rtl="0" algn="l">
              <a:lnSpc>
                <a:spcPct val="90000"/>
              </a:lnSpc>
              <a:spcBef>
                <a:spcPts val="800"/>
              </a:spcBef>
              <a:spcAft>
                <a:spcPts val="0"/>
              </a:spcAft>
              <a:buClr>
                <a:schemeClr val="dk1"/>
              </a:buClr>
              <a:buSzPts val="1100"/>
              <a:buNone/>
            </a:pPr>
            <a:r>
              <a:rPr b="1" lang="en" sz="1100" u="none" strike="noStrike"/>
              <a:t>There are few advantages of encapsulation in java as follows:</a:t>
            </a:r>
            <a:endParaRPr/>
          </a:p>
          <a:p>
            <a:pPr indent="-171450" lvl="0" marL="177800" rtl="0" algn="l">
              <a:lnSpc>
                <a:spcPct val="90000"/>
              </a:lnSpc>
              <a:spcBef>
                <a:spcPts val="800"/>
              </a:spcBef>
              <a:spcAft>
                <a:spcPts val="0"/>
              </a:spcAft>
              <a:buClr>
                <a:schemeClr val="dk1"/>
              </a:buClr>
              <a:buSzPts val="1100"/>
              <a:buFont typeface="Arial"/>
              <a:buChar char="•"/>
            </a:pPr>
            <a:r>
              <a:rPr b="1" lang="en" sz="1100" u="none" strike="noStrike"/>
              <a:t>Control Over Data:</a:t>
            </a:r>
            <a:r>
              <a:rPr b="0" lang="en" sz="1100" u="none" strike="noStrike"/>
              <a:t> We can write the logic in the setter method to not store the negative values for an Integer. So, by this way we can control the data.</a:t>
            </a:r>
            <a:endParaRPr/>
          </a:p>
          <a:p>
            <a:pPr indent="-171450" lvl="0" marL="177800" rtl="0" algn="l">
              <a:lnSpc>
                <a:spcPct val="90000"/>
              </a:lnSpc>
              <a:spcBef>
                <a:spcPts val="800"/>
              </a:spcBef>
              <a:spcAft>
                <a:spcPts val="0"/>
              </a:spcAft>
              <a:buClr>
                <a:schemeClr val="dk1"/>
              </a:buClr>
              <a:buSzPts val="1100"/>
              <a:buFont typeface="Arial"/>
              <a:buChar char="•"/>
            </a:pPr>
            <a:r>
              <a:rPr b="1" lang="en" sz="1100" u="none" strike="noStrike"/>
              <a:t>Data Hiding:</a:t>
            </a:r>
            <a:r>
              <a:rPr b="0" lang="en" sz="1100" u="none" strike="noStrike"/>
              <a:t> The data members are private so other class can’t access the data members.</a:t>
            </a:r>
            <a:endParaRPr/>
          </a:p>
          <a:p>
            <a:pPr indent="0" lvl="0" marL="0" rtl="0" algn="l">
              <a:lnSpc>
                <a:spcPct val="90000"/>
              </a:lnSpc>
              <a:spcBef>
                <a:spcPts val="800"/>
              </a:spcBef>
              <a:spcAft>
                <a:spcPts val="0"/>
              </a:spcAft>
              <a:buClr>
                <a:schemeClr val="dk1"/>
              </a:buClr>
              <a:buSzPts val="1100"/>
              <a:buNone/>
            </a:pPr>
            <a:r>
              <a:t/>
            </a:r>
            <a:endParaRPr b="0" i="0" sz="1100" u="none" strike="noStrike">
              <a:latin typeface="Nunito"/>
              <a:ea typeface="Nunito"/>
              <a:cs typeface="Nunito"/>
              <a:sym typeface="Nunito"/>
            </a:endParaRPr>
          </a:p>
          <a:p>
            <a:pPr indent="0" lvl="0" marL="0" rtl="0" algn="l">
              <a:lnSpc>
                <a:spcPct val="90000"/>
              </a:lnSpc>
              <a:spcBef>
                <a:spcPts val="800"/>
              </a:spcBef>
              <a:spcAft>
                <a:spcPts val="1200"/>
              </a:spcAft>
              <a:buClr>
                <a:schemeClr val="dk1"/>
              </a:buClr>
              <a:buSzPts val="1100"/>
              <a:buNone/>
            </a:pPr>
            <a:r>
              <a:t/>
            </a:r>
            <a:endParaRPr b="1"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9" name="Shape 109"/>
        <p:cNvGrpSpPr/>
        <p:nvPr/>
      </p:nvGrpSpPr>
      <p:grpSpPr>
        <a:xfrm>
          <a:off x="0" y="0"/>
          <a:ext cx="0" cy="0"/>
          <a:chOff x="0" y="0"/>
          <a:chExt cx="0" cy="0"/>
        </a:xfrm>
      </p:grpSpPr>
      <p:sp>
        <p:nvSpPr>
          <p:cNvPr id="110" name="Google Shape;110;p21"/>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1" name="Google Shape;111;p21"/>
          <p:cNvSpPr txBox="1"/>
          <p:nvPr>
            <p:ph type="title"/>
          </p:nvPr>
        </p:nvSpPr>
        <p:spPr>
          <a:xfrm>
            <a:off x="479161" y="313182"/>
            <a:ext cx="8182200" cy="9372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chemeClr val="dk1"/>
              </a:buClr>
              <a:buSzPts val="5000"/>
              <a:buFont typeface="Calibri"/>
              <a:buNone/>
            </a:pPr>
            <a:r>
              <a:rPr b="1" lang="en" sz="5000">
                <a:solidFill>
                  <a:schemeClr val="dk1"/>
                </a:solidFill>
                <a:latin typeface="Calibri"/>
                <a:ea typeface="Calibri"/>
                <a:cs typeface="Calibri"/>
                <a:sym typeface="Calibri"/>
              </a:rPr>
              <a:t>Example:</a:t>
            </a:r>
            <a:endParaRPr/>
          </a:p>
        </p:txBody>
      </p:sp>
      <p:sp>
        <p:nvSpPr>
          <p:cNvPr id="112" name="Google Shape;112;p21"/>
          <p:cNvSpPr/>
          <p:nvPr/>
        </p:nvSpPr>
        <p:spPr>
          <a:xfrm>
            <a:off x="2855777" y="1300091"/>
            <a:ext cx="3429000" cy="13716"/>
          </a:xfrm>
          <a:custGeom>
            <a:rect b="b" l="l" r="r" t="t"/>
            <a:pathLst>
              <a:path extrusionOk="0" fill="none" h="18288" w="457200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extrusionOk="0" h="18288" w="457200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cap="rnd" cmpd="sng" w="30950">
            <a:solidFill>
              <a:schemeClr val="accen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A screenshot of a computer program&#10;&#10;Description automatically generated" id="113" name="Google Shape;113;p21"/>
          <p:cNvPicPr preferRelativeResize="0"/>
          <p:nvPr/>
        </p:nvPicPr>
        <p:blipFill rotWithShape="1">
          <a:blip r:embed="rId3">
            <a:alphaModFix/>
          </a:blip>
          <a:srcRect b="0" l="0" r="0" t="0"/>
          <a:stretch/>
        </p:blipFill>
        <p:spPr>
          <a:xfrm>
            <a:off x="1959428" y="1377386"/>
            <a:ext cx="5461908" cy="361099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628650" y="273844"/>
            <a:ext cx="7886700" cy="485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400"/>
              <a:buFont typeface="Arial"/>
              <a:buNone/>
            </a:pPr>
            <a:r>
              <a:rPr lang="en" sz="2400">
                <a:latin typeface="Arial"/>
                <a:ea typeface="Arial"/>
                <a:cs typeface="Arial"/>
                <a:sym typeface="Arial"/>
              </a:rPr>
              <a:t>Variable default values</a:t>
            </a:r>
            <a:endParaRPr/>
          </a:p>
        </p:txBody>
      </p:sp>
      <p:sp>
        <p:nvSpPr>
          <p:cNvPr id="119" name="Google Shape;119;p22"/>
          <p:cNvSpPr txBox="1"/>
          <p:nvPr>
            <p:ph idx="1" type="body"/>
          </p:nvPr>
        </p:nvSpPr>
        <p:spPr>
          <a:xfrm>
            <a:off x="628650" y="848033"/>
            <a:ext cx="7284000" cy="37848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1500"/>
              <a:buNone/>
            </a:pPr>
            <a:r>
              <a:rPr lang="en" sz="1500">
                <a:latin typeface="Arial"/>
                <a:ea typeface="Arial"/>
                <a:cs typeface="Arial"/>
                <a:sym typeface="Arial"/>
              </a:rPr>
              <a:t>Instance variables always get a default value. If you don’t explicitly assign a value to an instance variable, or you don’t call a setter method, the instance variable still has a value!</a:t>
            </a:r>
            <a:endParaRPr/>
          </a:p>
          <a:p>
            <a:pPr indent="0" lvl="0" marL="0" rtl="0" algn="l">
              <a:lnSpc>
                <a:spcPct val="90000"/>
              </a:lnSpc>
              <a:spcBef>
                <a:spcPts val="800"/>
              </a:spcBef>
              <a:spcAft>
                <a:spcPts val="0"/>
              </a:spcAft>
              <a:buClr>
                <a:schemeClr val="dk1"/>
              </a:buClr>
              <a:buSzPts val="1500"/>
              <a:buNone/>
            </a:pPr>
            <a:r>
              <a:rPr lang="en" sz="1500">
                <a:latin typeface="Arial"/>
                <a:ea typeface="Arial"/>
                <a:cs typeface="Arial"/>
                <a:sym typeface="Arial"/>
              </a:rPr>
              <a:t>integers 0</a:t>
            </a:r>
            <a:endParaRPr/>
          </a:p>
          <a:p>
            <a:pPr indent="0" lvl="0" marL="0" rtl="0" algn="l">
              <a:lnSpc>
                <a:spcPct val="90000"/>
              </a:lnSpc>
              <a:spcBef>
                <a:spcPts val="800"/>
              </a:spcBef>
              <a:spcAft>
                <a:spcPts val="0"/>
              </a:spcAft>
              <a:buClr>
                <a:schemeClr val="dk1"/>
              </a:buClr>
              <a:buSzPts val="1500"/>
              <a:buNone/>
            </a:pPr>
            <a:r>
              <a:rPr lang="en" sz="1500">
                <a:latin typeface="Arial"/>
                <a:ea typeface="Arial"/>
                <a:cs typeface="Arial"/>
                <a:sym typeface="Arial"/>
              </a:rPr>
              <a:t>floating points 0.0</a:t>
            </a:r>
            <a:endParaRPr/>
          </a:p>
          <a:p>
            <a:pPr indent="0" lvl="0" marL="0" rtl="0" algn="l">
              <a:lnSpc>
                <a:spcPct val="90000"/>
              </a:lnSpc>
              <a:spcBef>
                <a:spcPts val="800"/>
              </a:spcBef>
              <a:spcAft>
                <a:spcPts val="0"/>
              </a:spcAft>
              <a:buClr>
                <a:schemeClr val="dk1"/>
              </a:buClr>
              <a:buSzPts val="1500"/>
              <a:buNone/>
            </a:pPr>
            <a:r>
              <a:rPr lang="en" sz="1500">
                <a:latin typeface="Arial"/>
                <a:ea typeface="Arial"/>
                <a:cs typeface="Arial"/>
                <a:sym typeface="Arial"/>
              </a:rPr>
              <a:t>boolean false</a:t>
            </a:r>
            <a:endParaRPr/>
          </a:p>
          <a:p>
            <a:pPr indent="0" lvl="0" marL="0" rtl="0" algn="l">
              <a:lnSpc>
                <a:spcPct val="90000"/>
              </a:lnSpc>
              <a:spcBef>
                <a:spcPts val="800"/>
              </a:spcBef>
              <a:spcAft>
                <a:spcPts val="0"/>
              </a:spcAft>
              <a:buClr>
                <a:schemeClr val="dk1"/>
              </a:buClr>
              <a:buSzPts val="1500"/>
              <a:buNone/>
            </a:pPr>
            <a:r>
              <a:rPr lang="en" sz="1500">
                <a:latin typeface="Arial"/>
                <a:ea typeface="Arial"/>
                <a:cs typeface="Arial"/>
                <a:sym typeface="Arial"/>
              </a:rPr>
              <a:t>references null</a:t>
            </a:r>
            <a:endParaRPr/>
          </a:p>
          <a:p>
            <a:pPr indent="-76200" lvl="0" marL="17780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ts val="1500"/>
              <a:buNone/>
            </a:pPr>
            <a:r>
              <a:rPr lang="en" sz="1500">
                <a:latin typeface="Arial"/>
                <a:ea typeface="Arial"/>
                <a:cs typeface="Arial"/>
                <a:sym typeface="Arial"/>
              </a:rPr>
              <a:t>Local variables do NOT get a default value! The compiler complains if you try to use a local variable before the variable is initialized.</a:t>
            </a:r>
            <a:endParaRPr/>
          </a:p>
          <a:p>
            <a:pPr indent="-76200" lvl="0" marL="177800" rtl="0" algn="l">
              <a:lnSpc>
                <a:spcPct val="90000"/>
              </a:lnSpc>
              <a:spcBef>
                <a:spcPts val="800"/>
              </a:spcBef>
              <a:spcAft>
                <a:spcPts val="1200"/>
              </a:spcAft>
              <a:buClr>
                <a:schemeClr val="dk1"/>
              </a:buClr>
              <a:buSzPts val="1500"/>
              <a:buNone/>
            </a:pPr>
            <a:r>
              <a:t/>
            </a:r>
            <a:endParaRPr sz="1500">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