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7" roundtripDataSignature="AMtx7mjBpktBRhVtpXCa6ggQWazzuDdP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d7394b2f8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g37d7394b2f8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d7394b2f8_0_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g37d7394b2f8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7d7394b2f8_0_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g37d7394b2f8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7d7394b2f8_0_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g37d7394b2f8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d7394b2f8_0_3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7d7394b2f8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7d7394b2f8_0_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37d7394b2f8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7d7394b2f8_0_4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7d7394b2f8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d7394b2f8_0_5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7d7394b2f8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7d7394b2f8_0_6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7d7394b2f8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d7394b2f8_0_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7d7394b2f8_0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g37d7394b2f8_0_14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g37d7394b2f8_0_14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g37d7394b2f8_0_14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g37d7394b2f8_0_14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g37d7394b2f8_0_14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Object Oriented Programming In Java</a:t>
            </a:r>
            <a:endParaRPr/>
          </a:p>
        </p:txBody>
      </p:sp>
      <p:sp>
        <p:nvSpPr>
          <p:cNvPr id="61" name="Google Shape;61;p1"/>
          <p:cNvSpPr txBox="1"/>
          <p:nvPr>
            <p:ph idx="1" type="subTitle"/>
          </p:nvPr>
        </p:nvSpPr>
        <p:spPr>
          <a:xfrm>
            <a:off x="311700" y="2834125"/>
            <a:ext cx="8520600" cy="9834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ctr">
              <a:lnSpc>
                <a:spcPct val="100000"/>
              </a:lnSpc>
              <a:spcBef>
                <a:spcPts val="0"/>
              </a:spcBef>
              <a:spcAft>
                <a:spcPts val="0"/>
              </a:spcAft>
              <a:buSzPct val="129032"/>
              <a:buNone/>
            </a:pPr>
            <a:r>
              <a:rPr lang="en"/>
              <a:t>Saurabh Pandey</a:t>
            </a:r>
            <a:endParaRPr/>
          </a:p>
          <a:p>
            <a:pPr indent="0" lvl="0" marL="0" rtl="0" algn="ctr">
              <a:lnSpc>
                <a:spcPct val="100000"/>
              </a:lnSpc>
              <a:spcBef>
                <a:spcPts val="0"/>
              </a:spcBef>
              <a:spcAft>
                <a:spcPts val="0"/>
              </a:spcAft>
              <a:buSzPct val="129032"/>
              <a:buNone/>
            </a:pPr>
            <a:r>
              <a:rPr lang="en"/>
              <a:t>Associate Professor</a:t>
            </a:r>
            <a:endParaRPr/>
          </a:p>
          <a:p>
            <a:pPr indent="0" lvl="0" marL="0" rtl="0" algn="ctr">
              <a:lnSpc>
                <a:spcPct val="100000"/>
              </a:lnSpc>
              <a:spcBef>
                <a:spcPts val="0"/>
              </a:spcBef>
              <a:spcAft>
                <a:spcPts val="0"/>
              </a:spcAft>
              <a:buSzPct val="129032"/>
              <a:buNone/>
            </a:pPr>
            <a:r>
              <a:rPr lang="en"/>
              <a:t>Sitare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37d7394b2f8_0_5"/>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Java Operators</a:t>
            </a:r>
            <a:endParaRPr/>
          </a:p>
        </p:txBody>
      </p:sp>
      <p:sp>
        <p:nvSpPr>
          <p:cNvPr id="67" name="Google Shape;67;g37d7394b2f8_0_5"/>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Post and pre increment</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pic>
        <p:nvPicPr>
          <p:cNvPr id="68" name="Google Shape;68;g37d7394b2f8_0_5"/>
          <p:cNvPicPr preferRelativeResize="0"/>
          <p:nvPr/>
        </p:nvPicPr>
        <p:blipFill rotWithShape="1">
          <a:blip r:embed="rId3">
            <a:alphaModFix/>
          </a:blip>
          <a:srcRect b="0" l="0" r="0" t="0"/>
          <a:stretch/>
        </p:blipFill>
        <p:spPr>
          <a:xfrm>
            <a:off x="566575" y="1335145"/>
            <a:ext cx="4197155" cy="21528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37d7394b2f8_0_11"/>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Java Operators</a:t>
            </a:r>
            <a:endParaRPr/>
          </a:p>
        </p:txBody>
      </p:sp>
      <p:sp>
        <p:nvSpPr>
          <p:cNvPr id="74" name="Google Shape;74;g37d7394b2f8_0_11"/>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rPr lang="en" sz="1500">
                <a:latin typeface="Arial"/>
                <a:ea typeface="Arial"/>
                <a:cs typeface="Arial"/>
                <a:sym typeface="Arial"/>
              </a:rPr>
              <a:t>Difference between (&amp;&amp;, ||) and (&amp;,|)</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&amp;&amp;, || : These are called Logical AND and Logical OR operator</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&amp;, | : These are called bitwise AND and bitwise OR operator</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 </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pic>
        <p:nvPicPr>
          <p:cNvPr id="75" name="Google Shape;75;g37d7394b2f8_0_11"/>
          <p:cNvPicPr preferRelativeResize="0"/>
          <p:nvPr/>
        </p:nvPicPr>
        <p:blipFill rotWithShape="1">
          <a:blip r:embed="rId3">
            <a:alphaModFix/>
          </a:blip>
          <a:srcRect b="0" l="0" r="0" t="0"/>
          <a:stretch/>
        </p:blipFill>
        <p:spPr>
          <a:xfrm>
            <a:off x="684522" y="2077896"/>
            <a:ext cx="7589322" cy="25548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7d7394b2f8_0_17"/>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Conditional Statements</a:t>
            </a:r>
            <a:endParaRPr/>
          </a:p>
        </p:txBody>
      </p:sp>
      <p:sp>
        <p:nvSpPr>
          <p:cNvPr id="81" name="Google Shape;81;g37d7394b2f8_0_17"/>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fontScale="55000" lnSpcReduction="20000"/>
          </a:bodyPr>
          <a:lstStyle/>
          <a:p>
            <a:pPr indent="0" lvl="0" marL="0" rtl="0" algn="l">
              <a:lnSpc>
                <a:spcPct val="90000"/>
              </a:lnSpc>
              <a:spcBef>
                <a:spcPts val="0"/>
              </a:spcBef>
              <a:spcAft>
                <a:spcPts val="0"/>
              </a:spcAft>
              <a:buClr>
                <a:schemeClr val="dk1"/>
              </a:buClr>
              <a:buSzPct val="100000"/>
              <a:buNone/>
            </a:pPr>
            <a:r>
              <a:rPr lang="en" sz="1500">
                <a:latin typeface="Arial"/>
                <a:ea typeface="Arial"/>
                <a:cs typeface="Arial"/>
                <a:sym typeface="Arial"/>
              </a:rPr>
              <a:t>Java has the following conditional statements:</a:t>
            </a:r>
            <a:endParaRPr/>
          </a:p>
          <a:p>
            <a:pPr indent="-128587" lvl="0" marL="177800" rtl="0" algn="l">
              <a:lnSpc>
                <a:spcPct val="90000"/>
              </a:lnSpc>
              <a:spcBef>
                <a:spcPts val="800"/>
              </a:spcBef>
              <a:spcAft>
                <a:spcPts val="0"/>
              </a:spcAft>
              <a:buClr>
                <a:schemeClr val="dk1"/>
              </a:buClr>
              <a:buSzPct val="100000"/>
              <a:buChar char="●"/>
            </a:pPr>
            <a:r>
              <a:rPr lang="en" sz="1500">
                <a:latin typeface="Arial"/>
                <a:ea typeface="Arial"/>
                <a:cs typeface="Arial"/>
                <a:sym typeface="Arial"/>
              </a:rPr>
              <a:t>Use if to specify a block of code to be executed, if a specified condition is true</a:t>
            </a:r>
            <a:endParaRPr/>
          </a:p>
          <a:p>
            <a:pPr indent="-128587" lvl="0" marL="177800" rtl="0" algn="l">
              <a:lnSpc>
                <a:spcPct val="90000"/>
              </a:lnSpc>
              <a:spcBef>
                <a:spcPts val="800"/>
              </a:spcBef>
              <a:spcAft>
                <a:spcPts val="0"/>
              </a:spcAft>
              <a:buClr>
                <a:schemeClr val="dk1"/>
              </a:buClr>
              <a:buSzPct val="100000"/>
              <a:buChar char="●"/>
            </a:pPr>
            <a:r>
              <a:rPr lang="en" sz="1500">
                <a:latin typeface="Arial"/>
                <a:ea typeface="Arial"/>
                <a:cs typeface="Arial"/>
                <a:sym typeface="Arial"/>
              </a:rPr>
              <a:t>Use else to specify a block of code to be executed, if the same condition is false</a:t>
            </a:r>
            <a:endParaRPr/>
          </a:p>
          <a:p>
            <a:pPr indent="-128587" lvl="0" marL="177800" rtl="0" algn="l">
              <a:lnSpc>
                <a:spcPct val="90000"/>
              </a:lnSpc>
              <a:spcBef>
                <a:spcPts val="800"/>
              </a:spcBef>
              <a:spcAft>
                <a:spcPts val="0"/>
              </a:spcAft>
              <a:buClr>
                <a:schemeClr val="dk1"/>
              </a:buClr>
              <a:buSzPct val="100000"/>
              <a:buChar char="●"/>
            </a:pPr>
            <a:r>
              <a:rPr lang="en" sz="1500">
                <a:latin typeface="Arial"/>
                <a:ea typeface="Arial"/>
                <a:cs typeface="Arial"/>
                <a:sym typeface="Arial"/>
              </a:rPr>
              <a:t>Use else if to specify a new condition to test, if the first condition is false</a:t>
            </a:r>
            <a:endParaRPr/>
          </a:p>
          <a:p>
            <a:pPr indent="-128587" lvl="0" marL="177800" rtl="0" algn="l">
              <a:lnSpc>
                <a:spcPct val="90000"/>
              </a:lnSpc>
              <a:spcBef>
                <a:spcPts val="800"/>
              </a:spcBef>
              <a:spcAft>
                <a:spcPts val="0"/>
              </a:spcAft>
              <a:buClr>
                <a:schemeClr val="dk1"/>
              </a:buClr>
              <a:buSzPct val="100000"/>
              <a:buChar char="●"/>
            </a:pPr>
            <a:r>
              <a:rPr lang="en" sz="1500">
                <a:latin typeface="Arial"/>
                <a:ea typeface="Arial"/>
                <a:cs typeface="Arial"/>
                <a:sym typeface="Arial"/>
              </a:rPr>
              <a:t>Use switch to specify many alternative blocks of code to be executed</a:t>
            </a:r>
            <a:endParaRPr/>
          </a:p>
          <a:p>
            <a:pPr indent="0" lvl="0" marL="0" rtl="0" algn="l">
              <a:lnSpc>
                <a:spcPct val="90000"/>
              </a:lnSpc>
              <a:spcBef>
                <a:spcPts val="800"/>
              </a:spcBef>
              <a:spcAft>
                <a:spcPts val="0"/>
              </a:spcAft>
              <a:buClr>
                <a:schemeClr val="dk1"/>
              </a:buClr>
              <a:buSzPct val="100000"/>
              <a:buNone/>
            </a:pPr>
            <a:r>
              <a:rPr lang="en" sz="1500">
                <a:latin typeface="Arial"/>
                <a:ea typeface="Arial"/>
                <a:cs typeface="Arial"/>
                <a:sym typeface="Arial"/>
              </a:rPr>
              <a:t>if syntax</a:t>
            </a:r>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rPr lang="en" sz="1500">
                <a:latin typeface="Arial"/>
                <a:ea typeface="Arial"/>
                <a:cs typeface="Arial"/>
                <a:sym typeface="Arial"/>
              </a:rPr>
              <a:t>else syntax </a:t>
            </a:r>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rPr lang="en" sz="1500">
                <a:latin typeface="Arial"/>
                <a:ea typeface="Arial"/>
                <a:cs typeface="Arial"/>
                <a:sym typeface="Arial"/>
              </a:rPr>
              <a:t>else if syntax</a:t>
            </a:r>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p:txBody>
      </p:sp>
      <p:pic>
        <p:nvPicPr>
          <p:cNvPr id="82" name="Google Shape;82;g37d7394b2f8_0_17"/>
          <p:cNvPicPr preferRelativeResize="0"/>
          <p:nvPr/>
        </p:nvPicPr>
        <p:blipFill rotWithShape="1">
          <a:blip r:embed="rId3">
            <a:alphaModFix/>
          </a:blip>
          <a:srcRect b="0" l="0" r="0" t="0"/>
          <a:stretch/>
        </p:blipFill>
        <p:spPr>
          <a:xfrm>
            <a:off x="1848726" y="2316392"/>
            <a:ext cx="3635055" cy="628705"/>
          </a:xfrm>
          <a:prstGeom prst="rect">
            <a:avLst/>
          </a:prstGeom>
          <a:noFill/>
          <a:ln>
            <a:noFill/>
          </a:ln>
        </p:spPr>
      </p:pic>
      <p:pic>
        <p:nvPicPr>
          <p:cNvPr id="83" name="Google Shape;83;g37d7394b2f8_0_17"/>
          <p:cNvPicPr preferRelativeResize="0"/>
          <p:nvPr/>
        </p:nvPicPr>
        <p:blipFill rotWithShape="1">
          <a:blip r:embed="rId4">
            <a:alphaModFix/>
          </a:blip>
          <a:srcRect b="0" l="0" r="0" t="0"/>
          <a:stretch/>
        </p:blipFill>
        <p:spPr>
          <a:xfrm>
            <a:off x="1848726" y="3033586"/>
            <a:ext cx="3897968" cy="943057"/>
          </a:xfrm>
          <a:prstGeom prst="rect">
            <a:avLst/>
          </a:prstGeom>
          <a:noFill/>
          <a:ln>
            <a:noFill/>
          </a:ln>
        </p:spPr>
      </p:pic>
      <p:pic>
        <p:nvPicPr>
          <p:cNvPr id="84" name="Google Shape;84;g37d7394b2f8_0_17"/>
          <p:cNvPicPr preferRelativeResize="0"/>
          <p:nvPr/>
        </p:nvPicPr>
        <p:blipFill rotWithShape="1">
          <a:blip r:embed="rId5">
            <a:alphaModFix/>
          </a:blip>
          <a:srcRect b="0" l="0" r="0" t="0"/>
          <a:stretch/>
        </p:blipFill>
        <p:spPr>
          <a:xfrm>
            <a:off x="1848726" y="3872507"/>
            <a:ext cx="5035351" cy="11888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7d7394b2f8_0_25"/>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Conditional Statements</a:t>
            </a:r>
            <a:endParaRPr/>
          </a:p>
        </p:txBody>
      </p:sp>
      <p:sp>
        <p:nvSpPr>
          <p:cNvPr id="90" name="Google Shape;90;g37d7394b2f8_0_25"/>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Ternary operator(short hand if else) syntax</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There could be nested if else statements also.</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Switch statement</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pic>
        <p:nvPicPr>
          <p:cNvPr id="91" name="Google Shape;91;g37d7394b2f8_0_25"/>
          <p:cNvPicPr preferRelativeResize="0"/>
          <p:nvPr/>
        </p:nvPicPr>
        <p:blipFill rotWithShape="1">
          <a:blip r:embed="rId3">
            <a:alphaModFix/>
          </a:blip>
          <a:srcRect b="0" l="0" r="0" t="0"/>
          <a:stretch/>
        </p:blipFill>
        <p:spPr>
          <a:xfrm>
            <a:off x="756525" y="1210922"/>
            <a:ext cx="3663632" cy="302921"/>
          </a:xfrm>
          <a:prstGeom prst="rect">
            <a:avLst/>
          </a:prstGeom>
          <a:noFill/>
          <a:ln>
            <a:noFill/>
          </a:ln>
        </p:spPr>
      </p:pic>
      <p:pic>
        <p:nvPicPr>
          <p:cNvPr id="92" name="Google Shape;92;g37d7394b2f8_0_25"/>
          <p:cNvPicPr preferRelativeResize="0"/>
          <p:nvPr/>
        </p:nvPicPr>
        <p:blipFill rotWithShape="1">
          <a:blip r:embed="rId4">
            <a:alphaModFix/>
          </a:blip>
          <a:srcRect b="0" l="0" r="0" t="0"/>
          <a:stretch/>
        </p:blipFill>
        <p:spPr>
          <a:xfrm>
            <a:off x="699030" y="2437931"/>
            <a:ext cx="3813975" cy="22832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g37d7394b2f8_0_32"/>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break and continue keywords</a:t>
            </a:r>
            <a:endParaRPr/>
          </a:p>
        </p:txBody>
      </p:sp>
      <p:sp>
        <p:nvSpPr>
          <p:cNvPr id="98" name="Google Shape;98;g37d7394b2f8_0_32"/>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rPr lang="en" sz="1500">
                <a:latin typeface="Arial"/>
                <a:ea typeface="Arial"/>
                <a:cs typeface="Arial"/>
                <a:sym typeface="Arial"/>
              </a:rPr>
              <a:t>You have already seen the break statement used in an earlier chapter of this tutorial. It was used to "jump out" of a switch statement.</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The break statement can also be used to jump out of a loop.</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The continue statement breaks one iteration (in the loop), if a specified condition occurs, and continues with the next iteration in the loop.</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pic>
        <p:nvPicPr>
          <p:cNvPr id="99" name="Google Shape;99;g37d7394b2f8_0_32"/>
          <p:cNvPicPr preferRelativeResize="0"/>
          <p:nvPr/>
        </p:nvPicPr>
        <p:blipFill rotWithShape="1">
          <a:blip r:embed="rId3">
            <a:alphaModFix/>
          </a:blip>
          <a:srcRect b="0" l="0" r="0" t="0"/>
          <a:stretch/>
        </p:blipFill>
        <p:spPr>
          <a:xfrm>
            <a:off x="730186" y="1625855"/>
            <a:ext cx="4402252" cy="1264829"/>
          </a:xfrm>
          <a:prstGeom prst="rect">
            <a:avLst/>
          </a:prstGeom>
          <a:noFill/>
          <a:ln>
            <a:noFill/>
          </a:ln>
        </p:spPr>
      </p:pic>
      <p:pic>
        <p:nvPicPr>
          <p:cNvPr id="100" name="Google Shape;100;g37d7394b2f8_0_32"/>
          <p:cNvPicPr preferRelativeResize="0"/>
          <p:nvPr/>
        </p:nvPicPr>
        <p:blipFill rotWithShape="1">
          <a:blip r:embed="rId4">
            <a:alphaModFix/>
          </a:blip>
          <a:srcRect b="0" l="0" r="0" t="0"/>
          <a:stretch/>
        </p:blipFill>
        <p:spPr>
          <a:xfrm>
            <a:off x="685941" y="3436509"/>
            <a:ext cx="4195775" cy="128470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7d7394b2f8_0_39"/>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Loops in java</a:t>
            </a:r>
            <a:endParaRPr/>
          </a:p>
        </p:txBody>
      </p:sp>
      <p:sp>
        <p:nvSpPr>
          <p:cNvPr id="106" name="Google Shape;106;g37d7394b2f8_0_39"/>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While loop</a:t>
            </a:r>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Do/While loop</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pic>
        <p:nvPicPr>
          <p:cNvPr id="107" name="Google Shape;107;g37d7394b2f8_0_39"/>
          <p:cNvPicPr preferRelativeResize="0"/>
          <p:nvPr/>
        </p:nvPicPr>
        <p:blipFill rotWithShape="1">
          <a:blip r:embed="rId3">
            <a:alphaModFix/>
          </a:blip>
          <a:srcRect b="0" l="0" r="0" t="0"/>
          <a:stretch/>
        </p:blipFill>
        <p:spPr>
          <a:xfrm>
            <a:off x="694793" y="1153386"/>
            <a:ext cx="3877207" cy="1165796"/>
          </a:xfrm>
          <a:prstGeom prst="rect">
            <a:avLst/>
          </a:prstGeom>
          <a:noFill/>
          <a:ln>
            <a:noFill/>
          </a:ln>
        </p:spPr>
      </p:pic>
      <p:pic>
        <p:nvPicPr>
          <p:cNvPr id="108" name="Google Shape;108;g37d7394b2f8_0_39"/>
          <p:cNvPicPr preferRelativeResize="0"/>
          <p:nvPr/>
        </p:nvPicPr>
        <p:blipFill rotWithShape="1">
          <a:blip r:embed="rId4">
            <a:alphaModFix/>
          </a:blip>
          <a:srcRect b="0" l="0" r="0" t="0"/>
          <a:stretch/>
        </p:blipFill>
        <p:spPr>
          <a:xfrm>
            <a:off x="694793" y="2824317"/>
            <a:ext cx="4002567" cy="127573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7d7394b2f8_0_46"/>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Loops in java</a:t>
            </a:r>
            <a:endParaRPr/>
          </a:p>
        </p:txBody>
      </p:sp>
      <p:sp>
        <p:nvSpPr>
          <p:cNvPr id="114" name="Google Shape;114;g37d7394b2f8_0_46"/>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For loop</a:t>
            </a:r>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There could </a:t>
            </a:r>
            <a:r>
              <a:rPr lang="en" sz="1500"/>
              <a:t>b</a:t>
            </a:r>
            <a:r>
              <a:rPr lang="en" sz="1500">
                <a:latin typeface="Arial"/>
                <a:ea typeface="Arial"/>
                <a:cs typeface="Arial"/>
                <a:sym typeface="Arial"/>
              </a:rPr>
              <a:t>e nested loops in your code.</a:t>
            </a:r>
            <a:endParaRPr/>
          </a:p>
        </p:txBody>
      </p:sp>
      <p:pic>
        <p:nvPicPr>
          <p:cNvPr id="115" name="Google Shape;115;g37d7394b2f8_0_46"/>
          <p:cNvPicPr preferRelativeResize="0"/>
          <p:nvPr/>
        </p:nvPicPr>
        <p:blipFill rotWithShape="1">
          <a:blip r:embed="rId3">
            <a:alphaModFix/>
          </a:blip>
          <a:srcRect b="0" l="0" r="0" t="0"/>
          <a:stretch/>
        </p:blipFill>
        <p:spPr>
          <a:xfrm>
            <a:off x="628650" y="1149149"/>
            <a:ext cx="3377858" cy="819760"/>
          </a:xfrm>
          <a:prstGeom prst="rect">
            <a:avLst/>
          </a:prstGeom>
          <a:noFill/>
          <a:ln>
            <a:noFill/>
          </a:ln>
        </p:spPr>
      </p:pic>
      <p:pic>
        <p:nvPicPr>
          <p:cNvPr id="116" name="Google Shape;116;g37d7394b2f8_0_46"/>
          <p:cNvPicPr preferRelativeResize="0"/>
          <p:nvPr/>
        </p:nvPicPr>
        <p:blipFill rotWithShape="1">
          <a:blip r:embed="rId4">
            <a:alphaModFix/>
          </a:blip>
          <a:srcRect b="0" l="0" r="0" t="0"/>
          <a:stretch/>
        </p:blipFill>
        <p:spPr>
          <a:xfrm>
            <a:off x="572031" y="1971963"/>
            <a:ext cx="4755292" cy="885901"/>
          </a:xfrm>
          <a:prstGeom prst="rect">
            <a:avLst/>
          </a:prstGeom>
          <a:noFill/>
          <a:ln>
            <a:noFill/>
          </a:ln>
        </p:spPr>
      </p:pic>
      <p:pic>
        <p:nvPicPr>
          <p:cNvPr id="117" name="Google Shape;117;g37d7394b2f8_0_46"/>
          <p:cNvPicPr preferRelativeResize="0"/>
          <p:nvPr/>
        </p:nvPicPr>
        <p:blipFill rotWithShape="1">
          <a:blip r:embed="rId5">
            <a:alphaModFix/>
          </a:blip>
          <a:srcRect b="0" l="0" r="0" t="0"/>
          <a:stretch/>
        </p:blipFill>
        <p:spPr>
          <a:xfrm>
            <a:off x="628650" y="3181329"/>
            <a:ext cx="4105583" cy="103671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7d7394b2f8_0_54"/>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Loops in java</a:t>
            </a:r>
            <a:endParaRPr/>
          </a:p>
        </p:txBody>
      </p:sp>
      <p:sp>
        <p:nvSpPr>
          <p:cNvPr id="123" name="Google Shape;123;g37d7394b2f8_0_54"/>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fontScale="92500" lnSpcReduction="20000"/>
          </a:bodyPr>
          <a:lstStyle/>
          <a:p>
            <a:pPr indent="-164306" lvl="0" marL="177800" rtl="0" algn="l">
              <a:lnSpc>
                <a:spcPct val="90000"/>
              </a:lnSpc>
              <a:spcBef>
                <a:spcPts val="0"/>
              </a:spcBef>
              <a:spcAft>
                <a:spcPts val="0"/>
              </a:spcAft>
              <a:buClr>
                <a:schemeClr val="dk1"/>
              </a:buClr>
              <a:buSzPct val="100000"/>
              <a:buChar char="●"/>
            </a:pPr>
            <a:r>
              <a:rPr lang="en" sz="1500">
                <a:latin typeface="Arial"/>
                <a:ea typeface="Arial"/>
                <a:cs typeface="Arial"/>
                <a:sym typeface="Arial"/>
              </a:rPr>
              <a:t>For Each loop</a:t>
            </a:r>
            <a:endParaRPr/>
          </a:p>
          <a:p>
            <a:pPr indent="0" lvl="0" marL="0" rtl="0" algn="l">
              <a:lnSpc>
                <a:spcPct val="90000"/>
              </a:lnSpc>
              <a:spcBef>
                <a:spcPts val="800"/>
              </a:spcBef>
              <a:spcAft>
                <a:spcPts val="0"/>
              </a:spcAft>
              <a:buClr>
                <a:schemeClr val="dk1"/>
              </a:buClr>
              <a:buSzPct val="100000"/>
              <a:buNone/>
            </a:pPr>
            <a:r>
              <a:rPr lang="en" sz="1500">
                <a:latin typeface="Arial"/>
                <a:ea typeface="Arial"/>
                <a:cs typeface="Arial"/>
                <a:sym typeface="Arial"/>
              </a:rPr>
              <a:t>It is used exclusively to loop through elements in an standard data structure as array or arraylist.</a:t>
            </a:r>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ct val="100000"/>
              <a:buNone/>
            </a:pPr>
            <a:r>
              <a:t/>
            </a:r>
            <a:endParaRPr sz="1500">
              <a:latin typeface="Arial"/>
              <a:ea typeface="Arial"/>
              <a:cs typeface="Arial"/>
              <a:sym typeface="Arial"/>
            </a:endParaRPr>
          </a:p>
        </p:txBody>
      </p:sp>
      <p:pic>
        <p:nvPicPr>
          <p:cNvPr id="124" name="Google Shape;124;g37d7394b2f8_0_54"/>
          <p:cNvPicPr preferRelativeResize="0"/>
          <p:nvPr/>
        </p:nvPicPr>
        <p:blipFill rotWithShape="1">
          <a:blip r:embed="rId3">
            <a:alphaModFix/>
          </a:blip>
          <a:srcRect b="0" l="0" r="0" t="0"/>
          <a:stretch/>
        </p:blipFill>
        <p:spPr>
          <a:xfrm>
            <a:off x="628650" y="1667461"/>
            <a:ext cx="5152718" cy="847139"/>
          </a:xfrm>
          <a:prstGeom prst="rect">
            <a:avLst/>
          </a:prstGeom>
          <a:noFill/>
          <a:ln>
            <a:noFill/>
          </a:ln>
        </p:spPr>
      </p:pic>
      <p:pic>
        <p:nvPicPr>
          <p:cNvPr id="125" name="Google Shape;125;g37d7394b2f8_0_54"/>
          <p:cNvPicPr preferRelativeResize="0"/>
          <p:nvPr/>
        </p:nvPicPr>
        <p:blipFill rotWithShape="1">
          <a:blip r:embed="rId4">
            <a:alphaModFix/>
          </a:blip>
          <a:srcRect b="0" l="0" r="0" t="0"/>
          <a:stretch/>
        </p:blipFill>
        <p:spPr>
          <a:xfrm>
            <a:off x="681385" y="2681224"/>
            <a:ext cx="5018866" cy="12418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7d7394b2f8_0_61"/>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Packages</a:t>
            </a:r>
            <a:endParaRPr/>
          </a:p>
        </p:txBody>
      </p:sp>
      <p:sp>
        <p:nvSpPr>
          <p:cNvPr id="131" name="Google Shape;131;g37d7394b2f8_0_61"/>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In the Java API, classes are grouped into packages. To use a class in the API, you have to know which package the class is in.</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Packages are important for three main reasons. </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First, they help the overall organization of a project or library. Rather than just having one horrendously large pile of classes, they’re all grouped into packages for specific kinds of functionality (like GUI, or data structures, or database stuff, etc.)</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Second, packages give you a name scoping, to help prevent collisions. If you and 12 other programmers in your company all decide to make a class with the same name. If you have a class named Set and someone else (including the Java API) has a class named Set, you need some way to tell the JVM which Set class you’re trying to use.</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Third, packages provide a level of security, because you can restrict the code you write so that only other classes in the same package can access it.</a:t>
            </a:r>
            <a:endParaRPr/>
          </a:p>
          <a:p>
            <a:pPr indent="0" lvl="0" marL="0" rtl="0" algn="l">
              <a:lnSpc>
                <a:spcPct val="90000"/>
              </a:lnSpc>
              <a:spcBef>
                <a:spcPts val="800"/>
              </a:spcBef>
              <a:spcAft>
                <a:spcPts val="0"/>
              </a:spcAft>
              <a:buClr>
                <a:schemeClr val="dk1"/>
              </a:buClr>
              <a:buSzPts val="1500"/>
              <a:buNone/>
            </a:pPr>
            <a:r>
              <a:rPr lang="en" sz="1500">
                <a:latin typeface="Arial"/>
                <a:ea typeface="Arial"/>
                <a:cs typeface="Arial"/>
                <a:sym typeface="Arial"/>
              </a:rPr>
              <a:t>import the package or type class with full package name</a:t>
            </a:r>
            <a:endParaRPr sz="15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7d7394b2f8_0_66"/>
          <p:cNvSpPr txBox="1"/>
          <p:nvPr>
            <p:ph type="title"/>
          </p:nvPr>
        </p:nvSpPr>
        <p:spPr>
          <a:xfrm>
            <a:off x="628650" y="273844"/>
            <a:ext cx="7886700" cy="485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en" sz="2400">
                <a:latin typeface="Arial"/>
                <a:ea typeface="Arial"/>
                <a:cs typeface="Arial"/>
                <a:sym typeface="Arial"/>
              </a:rPr>
              <a:t>Object Equality</a:t>
            </a:r>
            <a:endParaRPr/>
          </a:p>
        </p:txBody>
      </p:sp>
      <p:sp>
        <p:nvSpPr>
          <p:cNvPr id="137" name="Google Shape;137;g37d7394b2f8_0_66"/>
          <p:cNvSpPr txBox="1"/>
          <p:nvPr>
            <p:ph idx="1" type="body"/>
          </p:nvPr>
        </p:nvSpPr>
        <p:spPr>
          <a:xfrm>
            <a:off x="628650" y="848033"/>
            <a:ext cx="7284000" cy="3784800"/>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1500"/>
              <a:buChar char="●"/>
            </a:pPr>
            <a:r>
              <a:rPr lang="en" sz="1500">
                <a:latin typeface="Arial"/>
                <a:ea typeface="Arial"/>
                <a:cs typeface="Arial"/>
                <a:sym typeface="Arial"/>
              </a:rPr>
              <a:t>When we compare primitives with == operator, it compares values of the primitives.</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When you compare two object references, it checks only reference values not the objects.</a:t>
            </a:r>
            <a:endParaRPr/>
          </a:p>
          <a:p>
            <a:pPr indent="-171450" lvl="0" marL="177800" rtl="0" algn="l">
              <a:lnSpc>
                <a:spcPct val="90000"/>
              </a:lnSpc>
              <a:spcBef>
                <a:spcPts val="800"/>
              </a:spcBef>
              <a:spcAft>
                <a:spcPts val="0"/>
              </a:spcAft>
              <a:buClr>
                <a:schemeClr val="dk1"/>
              </a:buClr>
              <a:buSzPts val="1500"/>
              <a:buChar char="●"/>
            </a:pPr>
            <a:r>
              <a:rPr lang="en" sz="1500">
                <a:latin typeface="Arial"/>
                <a:ea typeface="Arial"/>
                <a:cs typeface="Arial"/>
                <a:sym typeface="Arial"/>
              </a:rPr>
              <a:t>If you want to check two objects equality, use equals() method which is method of Object class. Object class is mother of all classes in java.</a:t>
            </a:r>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0" lvl="0" marL="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a:p>
            <a:pPr indent="-76200" lvl="0" marL="177800" rtl="0" algn="l">
              <a:lnSpc>
                <a:spcPct val="90000"/>
              </a:lnSpc>
              <a:spcBef>
                <a:spcPts val="800"/>
              </a:spcBef>
              <a:spcAft>
                <a:spcPts val="0"/>
              </a:spcAft>
              <a:buClr>
                <a:schemeClr val="dk1"/>
              </a:buClr>
              <a:buSzPts val="1500"/>
              <a:buNone/>
            </a:pPr>
            <a:r>
              <a:t/>
            </a:r>
            <a:endParaRPr sz="15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