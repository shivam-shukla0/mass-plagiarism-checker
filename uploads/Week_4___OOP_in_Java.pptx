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0" roundtripDataSignature="AMtx7mgpEZFEENcwUu/F1oKn2nhl8UCL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d739b2787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7d739b278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7d739b2787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g37d739b2787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Inheritance example : Human, our forefathers, us. Describe it in the form of super class and sub classes.</a:t>
            </a:r>
            <a:endParaRPr/>
          </a:p>
        </p:txBody>
      </p:sp>
      <p:sp>
        <p:nvSpPr>
          <p:cNvPr id="74" name="Google Shape;74;g37d739b2787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7d739b2787_0_2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7d739b2787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7d739b2787_0_3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7d739b2787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7d739b2787_0_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37d739b2787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d739b2787_0_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7d739b2787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7d739b2787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7d739b2787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Bridge or house architecture example. </a:t>
            </a:r>
            <a:endParaRPr/>
          </a:p>
        </p:txBody>
      </p:sp>
      <p:sp>
        <p:nvSpPr>
          <p:cNvPr id="113" name="Google Shape;113;g37d739b2787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d739b2787_0_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7d739b2787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d739b2787_0_6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7d739b2787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7d739b2787_0_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7d739b2787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d739b2787_0_7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7d739b2787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7d739b2787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7d739b2787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Many forms</a:t>
            </a:r>
            <a:endParaRPr/>
          </a:p>
        </p:txBody>
      </p:sp>
      <p:sp>
        <p:nvSpPr>
          <p:cNvPr id="149" name="Google Shape;149;g37d739b2787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d739b2787_0_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7d739b2787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g37d739b2787_0_17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g37d739b2787_0_17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g37d739b2787_0_17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g37d739b2787_0_17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g37d739b2787_0_17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Object Oriented Programming In Java</a:t>
            </a:r>
            <a:endParaRPr/>
          </a:p>
        </p:txBody>
      </p:sp>
      <p:sp>
        <p:nvSpPr>
          <p:cNvPr id="61" name="Google Shape;61;p1"/>
          <p:cNvSpPr txBox="1"/>
          <p:nvPr>
            <p:ph idx="1" type="subTitle"/>
          </p:nvPr>
        </p:nvSpPr>
        <p:spPr>
          <a:xfrm>
            <a:off x="311700" y="2834125"/>
            <a:ext cx="8520600" cy="983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ctr">
              <a:lnSpc>
                <a:spcPct val="100000"/>
              </a:lnSpc>
              <a:spcBef>
                <a:spcPts val="0"/>
              </a:spcBef>
              <a:spcAft>
                <a:spcPts val="0"/>
              </a:spcAft>
              <a:buSzPct val="129032"/>
              <a:buNone/>
            </a:pPr>
            <a:r>
              <a:rPr lang="en"/>
              <a:t>Saurabh Pandey</a:t>
            </a:r>
            <a:endParaRPr/>
          </a:p>
          <a:p>
            <a:pPr indent="0" lvl="0" marL="0" rtl="0" algn="ctr">
              <a:lnSpc>
                <a:spcPct val="100000"/>
              </a:lnSpc>
              <a:spcBef>
                <a:spcPts val="0"/>
              </a:spcBef>
              <a:spcAft>
                <a:spcPts val="0"/>
              </a:spcAft>
              <a:buSzPct val="129032"/>
              <a:buNone/>
            </a:pPr>
            <a:r>
              <a:rPr lang="en"/>
              <a:t>Associate Professor</a:t>
            </a:r>
            <a:endParaRPr/>
          </a:p>
          <a:p>
            <a:pPr indent="0" lvl="0" marL="0" rtl="0" algn="ctr">
              <a:lnSpc>
                <a:spcPct val="100000"/>
              </a:lnSpc>
              <a:spcBef>
                <a:spcPts val="0"/>
              </a:spcBef>
              <a:spcAft>
                <a:spcPts val="0"/>
              </a:spcAft>
              <a:buSzPct val="129032"/>
              <a:buNone/>
            </a:pPr>
            <a:r>
              <a:rPr lang="en"/>
              <a:t>Sitare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 name="Shape 65"/>
        <p:cNvGrpSpPr/>
        <p:nvPr/>
      </p:nvGrpSpPr>
      <p:grpSpPr>
        <a:xfrm>
          <a:off x="0" y="0"/>
          <a:ext cx="0" cy="0"/>
          <a:chOff x="0" y="0"/>
          <a:chExt cx="0" cy="0"/>
        </a:xfrm>
      </p:grpSpPr>
      <p:sp>
        <p:nvSpPr>
          <p:cNvPr id="66" name="Google Shape;66;g37d739b2787_0_5"/>
          <p:cNvSpPr/>
          <p:nvPr/>
        </p:nvSpPr>
        <p:spPr>
          <a:xfrm>
            <a:off x="0" y="0"/>
            <a:ext cx="91419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 name="Google Shape;67;g37d739b2787_0_5"/>
          <p:cNvSpPr txBox="1"/>
          <p:nvPr>
            <p:ph type="title"/>
          </p:nvPr>
        </p:nvSpPr>
        <p:spPr>
          <a:xfrm>
            <a:off x="429370" y="178904"/>
            <a:ext cx="8263800" cy="10758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Calibri"/>
              <a:buNone/>
            </a:pPr>
            <a:r>
              <a:rPr b="1" lang="en" sz="4100">
                <a:latin typeface="Calibri"/>
                <a:ea typeface="Calibri"/>
                <a:cs typeface="Calibri"/>
                <a:sym typeface="Calibri"/>
              </a:rPr>
              <a:t>OOPS Core Concepts</a:t>
            </a:r>
            <a:endParaRPr/>
          </a:p>
        </p:txBody>
      </p:sp>
      <p:sp>
        <p:nvSpPr>
          <p:cNvPr id="68" name="Google Shape;68;g37d739b2787_0_5"/>
          <p:cNvSpPr/>
          <p:nvPr/>
        </p:nvSpPr>
        <p:spPr>
          <a:xfrm>
            <a:off x="429370" y="1261158"/>
            <a:ext cx="8229600" cy="13716"/>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0"/>
            </a:schemeClr>
          </a:solidFill>
          <a:ln cap="rnd" cmpd="sng" w="33350">
            <a:solidFill>
              <a:schemeClr val="accent2">
                <a:alpha val="74900"/>
              </a:schemeClr>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 name="Google Shape;69;g37d739b2787_0_5"/>
          <p:cNvSpPr txBox="1"/>
          <p:nvPr>
            <p:ph idx="1" type="body"/>
          </p:nvPr>
        </p:nvSpPr>
        <p:spPr>
          <a:xfrm>
            <a:off x="429370" y="1553487"/>
            <a:ext cx="5035200" cy="3089400"/>
          </a:xfrm>
          <a:prstGeom prst="rect">
            <a:avLst/>
          </a:prstGeom>
          <a:noFill/>
          <a:ln>
            <a:noFill/>
          </a:ln>
        </p:spPr>
        <p:txBody>
          <a:bodyPr anchorCtr="0" anchor="t" bIns="34275" lIns="68575" spcFirstLastPara="1" rIns="68575" wrap="square" tIns="34275">
            <a:normAutofit/>
          </a:bodyPr>
          <a:lstStyle/>
          <a:p>
            <a:pPr indent="-184150" lvl="0" marL="177800" rtl="0" algn="l">
              <a:lnSpc>
                <a:spcPct val="90000"/>
              </a:lnSpc>
              <a:spcBef>
                <a:spcPts val="0"/>
              </a:spcBef>
              <a:spcAft>
                <a:spcPts val="0"/>
              </a:spcAft>
              <a:buClr>
                <a:schemeClr val="dk1"/>
              </a:buClr>
              <a:buSzPts val="1700"/>
              <a:buChar char="●"/>
            </a:pPr>
            <a:r>
              <a:rPr lang="en" sz="1700">
                <a:highlight>
                  <a:srgbClr val="FFFFFF"/>
                </a:highlight>
              </a:rPr>
              <a:t>Class</a:t>
            </a:r>
            <a:endParaRPr/>
          </a:p>
          <a:p>
            <a:pPr indent="-184150" lvl="0" marL="177800" rtl="0" algn="l">
              <a:lnSpc>
                <a:spcPct val="90000"/>
              </a:lnSpc>
              <a:spcBef>
                <a:spcPts val="800"/>
              </a:spcBef>
              <a:spcAft>
                <a:spcPts val="0"/>
              </a:spcAft>
              <a:buClr>
                <a:schemeClr val="dk1"/>
              </a:buClr>
              <a:buSzPts val="1700"/>
              <a:buChar char="●"/>
            </a:pPr>
            <a:r>
              <a:rPr b="0" i="0" lang="en" sz="1700" u="none" strike="noStrike">
                <a:highlight>
                  <a:srgbClr val="FFFFFF"/>
                </a:highlight>
              </a:rPr>
              <a:t>Object</a:t>
            </a:r>
            <a:endParaRPr/>
          </a:p>
          <a:p>
            <a:pPr indent="-184150" lvl="0" marL="177800" rtl="0" algn="l">
              <a:lnSpc>
                <a:spcPct val="90000"/>
              </a:lnSpc>
              <a:spcBef>
                <a:spcPts val="800"/>
              </a:spcBef>
              <a:spcAft>
                <a:spcPts val="0"/>
              </a:spcAft>
              <a:buClr>
                <a:schemeClr val="dk1"/>
              </a:buClr>
              <a:buSzPts val="1700"/>
              <a:buChar char="●"/>
            </a:pPr>
            <a:r>
              <a:rPr lang="en" sz="1700">
                <a:highlight>
                  <a:srgbClr val="FFFFFF"/>
                </a:highlight>
              </a:rPr>
              <a:t>Data Abstraction</a:t>
            </a:r>
            <a:endParaRPr/>
          </a:p>
          <a:p>
            <a:pPr indent="-184150" lvl="0" marL="177800" rtl="0" algn="l">
              <a:lnSpc>
                <a:spcPct val="90000"/>
              </a:lnSpc>
              <a:spcBef>
                <a:spcPts val="800"/>
              </a:spcBef>
              <a:spcAft>
                <a:spcPts val="0"/>
              </a:spcAft>
              <a:buClr>
                <a:schemeClr val="dk1"/>
              </a:buClr>
              <a:buSzPts val="1700"/>
              <a:buChar char="●"/>
            </a:pPr>
            <a:r>
              <a:rPr lang="en" sz="1700">
                <a:highlight>
                  <a:srgbClr val="FFFFFF"/>
                </a:highlight>
              </a:rPr>
              <a:t>Encapsulation</a:t>
            </a:r>
            <a:endParaRPr/>
          </a:p>
          <a:p>
            <a:pPr indent="-184150" lvl="0" marL="177800" rtl="0" algn="l">
              <a:lnSpc>
                <a:spcPct val="90000"/>
              </a:lnSpc>
              <a:spcBef>
                <a:spcPts val="800"/>
              </a:spcBef>
              <a:spcAft>
                <a:spcPts val="0"/>
              </a:spcAft>
              <a:buClr>
                <a:schemeClr val="dk1"/>
              </a:buClr>
              <a:buSzPts val="1700"/>
              <a:buChar char="●"/>
            </a:pPr>
            <a:r>
              <a:rPr lang="en" sz="1700">
                <a:highlight>
                  <a:srgbClr val="FFFFFF"/>
                </a:highlight>
              </a:rPr>
              <a:t>Inheritance</a:t>
            </a:r>
            <a:endParaRPr/>
          </a:p>
          <a:p>
            <a:pPr indent="-184150" lvl="0" marL="177800" rtl="0" algn="l">
              <a:lnSpc>
                <a:spcPct val="90000"/>
              </a:lnSpc>
              <a:spcBef>
                <a:spcPts val="800"/>
              </a:spcBef>
              <a:spcAft>
                <a:spcPts val="0"/>
              </a:spcAft>
              <a:buClr>
                <a:schemeClr val="dk1"/>
              </a:buClr>
              <a:buSzPts val="1700"/>
              <a:buChar char="●"/>
            </a:pPr>
            <a:r>
              <a:rPr lang="en" sz="1700">
                <a:highlight>
                  <a:srgbClr val="FFFFFF"/>
                </a:highlight>
              </a:rPr>
              <a:t>Polymorphism</a:t>
            </a:r>
            <a:endParaRPr b="0" i="0" sz="1700" u="none" strike="noStrike">
              <a:highlight>
                <a:srgbClr val="FFFFFF"/>
              </a:highlight>
            </a:endParaRPr>
          </a:p>
          <a:p>
            <a:pPr indent="0" lvl="0" marL="0" rtl="0" algn="l">
              <a:lnSpc>
                <a:spcPct val="90000"/>
              </a:lnSpc>
              <a:spcBef>
                <a:spcPts val="800"/>
              </a:spcBef>
              <a:spcAft>
                <a:spcPts val="0"/>
              </a:spcAft>
              <a:buClr>
                <a:schemeClr val="dk1"/>
              </a:buClr>
              <a:buSzPts val="1700"/>
              <a:buNone/>
            </a:pPr>
            <a:r>
              <a:t/>
            </a:r>
            <a:endParaRPr sz="1700">
              <a:highlight>
                <a:srgbClr val="FFFFFF"/>
              </a:highlight>
            </a:endParaRPr>
          </a:p>
          <a:p>
            <a:pPr indent="0" lvl="0" marL="0" rtl="0" algn="l">
              <a:lnSpc>
                <a:spcPct val="90000"/>
              </a:lnSpc>
              <a:spcBef>
                <a:spcPts val="800"/>
              </a:spcBef>
              <a:spcAft>
                <a:spcPts val="0"/>
              </a:spcAft>
              <a:buClr>
                <a:schemeClr val="dk1"/>
              </a:buClr>
              <a:buSzPts val="1700"/>
              <a:buNone/>
            </a:pPr>
            <a:r>
              <a:t/>
            </a:r>
            <a:endParaRPr sz="1700">
              <a:highlight>
                <a:srgbClr val="FFFFFF"/>
              </a:highlight>
            </a:endParaRPr>
          </a:p>
          <a:p>
            <a:pPr indent="0" lvl="0" marL="0" rtl="0" algn="l">
              <a:lnSpc>
                <a:spcPct val="90000"/>
              </a:lnSpc>
              <a:spcBef>
                <a:spcPts val="800"/>
              </a:spcBef>
              <a:spcAft>
                <a:spcPts val="0"/>
              </a:spcAft>
              <a:buClr>
                <a:schemeClr val="dk1"/>
              </a:buClr>
              <a:buSzPts val="1700"/>
              <a:buNone/>
            </a:pPr>
            <a:r>
              <a:t/>
            </a:r>
            <a:endParaRPr sz="1700"/>
          </a:p>
        </p:txBody>
      </p:sp>
      <p:pic>
        <p:nvPicPr>
          <p:cNvPr descr="A diagram of a diagram of a program&#10;&#10;Description automatically generated with medium confidence" id="70" name="Google Shape;70;g37d739b2787_0_5"/>
          <p:cNvPicPr preferRelativeResize="0"/>
          <p:nvPr/>
        </p:nvPicPr>
        <p:blipFill rotWithShape="1">
          <a:blip r:embed="rId3">
            <a:alphaModFix/>
          </a:blip>
          <a:srcRect b="0" l="14609" r="12995" t="0"/>
          <a:stretch/>
        </p:blipFill>
        <p:spPr>
          <a:xfrm>
            <a:off x="4627179" y="1570482"/>
            <a:ext cx="4085361" cy="335099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g37d739b2787_0_13"/>
          <p:cNvSpPr/>
          <p:nvPr/>
        </p:nvSpPr>
        <p:spPr>
          <a:xfrm>
            <a:off x="0" y="0"/>
            <a:ext cx="91419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 name="Google Shape;77;g37d739b2787_0_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Calibri"/>
              <a:buNone/>
            </a:pPr>
            <a:r>
              <a:rPr b="1" lang="en" sz="4100">
                <a:latin typeface="Calibri"/>
                <a:ea typeface="Calibri"/>
                <a:cs typeface="Calibri"/>
                <a:sym typeface="Calibri"/>
              </a:rPr>
              <a:t>Inheritance</a:t>
            </a:r>
            <a:endParaRPr/>
          </a:p>
        </p:txBody>
      </p:sp>
      <p:sp>
        <p:nvSpPr>
          <p:cNvPr id="78" name="Google Shape;78;g37d739b2787_0_13"/>
          <p:cNvSpPr/>
          <p:nvPr/>
        </p:nvSpPr>
        <p:spPr>
          <a:xfrm>
            <a:off x="501777" y="1258030"/>
            <a:ext cx="8140446" cy="13716"/>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309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 name="Google Shape;79;g37d739b2787_0_13"/>
          <p:cNvSpPr txBox="1"/>
          <p:nvPr>
            <p:ph idx="1" type="body"/>
          </p:nvPr>
        </p:nvSpPr>
        <p:spPr>
          <a:xfrm>
            <a:off x="628650" y="1447038"/>
            <a:ext cx="7886700" cy="31890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90000"/>
              </a:lnSpc>
              <a:spcBef>
                <a:spcPts val="0"/>
              </a:spcBef>
              <a:spcAft>
                <a:spcPts val="0"/>
              </a:spcAft>
              <a:buClr>
                <a:schemeClr val="dk1"/>
              </a:buClr>
              <a:buSzPts val="1300"/>
              <a:buNone/>
            </a:pPr>
            <a:r>
              <a:rPr lang="en" sz="1300"/>
              <a:t>Inheritance is the process of one class inheriting properties and methods from another class in Java. Inheritance is used when we have </a:t>
            </a:r>
            <a:r>
              <a:rPr b="1" lang="en" sz="1300"/>
              <a:t>is-a</a:t>
            </a:r>
            <a:r>
              <a:rPr lang="en" sz="1300"/>
              <a:t> relationship between objects.  Inheritance in Java is implemented using </a:t>
            </a:r>
            <a:r>
              <a:rPr b="1" lang="en" sz="1300"/>
              <a:t>extends</a:t>
            </a:r>
            <a:r>
              <a:rPr lang="en" sz="1300"/>
              <a:t> keyword. It avoids the duplicate code.</a:t>
            </a:r>
            <a:endParaRPr/>
          </a:p>
          <a:p>
            <a:pPr indent="0" lvl="0" marL="0" rtl="0" algn="l">
              <a:lnSpc>
                <a:spcPct val="90000"/>
              </a:lnSpc>
              <a:spcBef>
                <a:spcPts val="800"/>
              </a:spcBef>
              <a:spcAft>
                <a:spcPts val="0"/>
              </a:spcAft>
              <a:buClr>
                <a:schemeClr val="dk1"/>
              </a:buClr>
              <a:buSzPts val="1300"/>
              <a:buNone/>
            </a:pPr>
            <a:r>
              <a:rPr lang="en" sz="1300"/>
              <a:t>What is has-a relationship?</a:t>
            </a:r>
            <a:endParaRPr/>
          </a:p>
          <a:p>
            <a:pPr indent="0" lvl="0" marL="0" rtl="0" algn="l">
              <a:lnSpc>
                <a:spcPct val="90000"/>
              </a:lnSpc>
              <a:spcBef>
                <a:spcPts val="800"/>
              </a:spcBef>
              <a:spcAft>
                <a:spcPts val="0"/>
              </a:spcAft>
              <a:buClr>
                <a:schemeClr val="dk1"/>
              </a:buClr>
              <a:buSzPts val="1300"/>
              <a:buNone/>
            </a:pPr>
            <a:r>
              <a:t/>
            </a:r>
            <a:endParaRPr sz="1300"/>
          </a:p>
          <a:p>
            <a:pPr indent="0" lvl="0" marL="0" rtl="0" algn="l">
              <a:lnSpc>
                <a:spcPct val="90000"/>
              </a:lnSpc>
              <a:spcBef>
                <a:spcPts val="800"/>
              </a:spcBef>
              <a:spcAft>
                <a:spcPts val="0"/>
              </a:spcAft>
              <a:buClr>
                <a:schemeClr val="dk1"/>
              </a:buClr>
              <a:buSzPts val="1300"/>
              <a:buNone/>
            </a:pPr>
            <a:r>
              <a:rPr b="0" i="0" lang="en" sz="1300" u="none" strike="noStrike"/>
              <a:t>There are 5 different types of inheritance as follows:</a:t>
            </a:r>
            <a:endParaRPr/>
          </a:p>
          <a:p>
            <a:pPr indent="-184150" lvl="0" marL="177800" rtl="0" algn="l">
              <a:lnSpc>
                <a:spcPct val="90000"/>
              </a:lnSpc>
              <a:spcBef>
                <a:spcPts val="800"/>
              </a:spcBef>
              <a:spcAft>
                <a:spcPts val="0"/>
              </a:spcAft>
              <a:buClr>
                <a:schemeClr val="dk1"/>
              </a:buClr>
              <a:buSzPts val="1300"/>
              <a:buFont typeface="Arial"/>
              <a:buChar char="•"/>
            </a:pPr>
            <a:r>
              <a:rPr b="1" i="0" lang="en" sz="1300" u="none" strike="noStrike"/>
              <a:t>Single Inheritance:</a:t>
            </a:r>
            <a:r>
              <a:rPr b="0" i="0" lang="en" sz="1300" u="none" strike="noStrike"/>
              <a:t> Class B inherits Class A using extends keyword</a:t>
            </a:r>
            <a:endParaRPr/>
          </a:p>
          <a:p>
            <a:pPr indent="-184150" lvl="0" marL="177800" rtl="0" algn="l">
              <a:lnSpc>
                <a:spcPct val="90000"/>
              </a:lnSpc>
              <a:spcBef>
                <a:spcPts val="800"/>
              </a:spcBef>
              <a:spcAft>
                <a:spcPts val="0"/>
              </a:spcAft>
              <a:buClr>
                <a:schemeClr val="dk1"/>
              </a:buClr>
              <a:buSzPts val="1300"/>
              <a:buFont typeface="Arial"/>
              <a:buChar char="•"/>
            </a:pPr>
            <a:r>
              <a:rPr b="1" i="0" lang="en" sz="1300" u="none" strike="noStrike"/>
              <a:t>Multilevel Inheritance:</a:t>
            </a:r>
            <a:r>
              <a:rPr b="0" i="0" lang="en" sz="1300" u="none" strike="noStrike"/>
              <a:t> Class C inherits class B and B inherits class A using extends keyword</a:t>
            </a:r>
            <a:endParaRPr/>
          </a:p>
          <a:p>
            <a:pPr indent="-184150" lvl="0" marL="177800" rtl="0" algn="l">
              <a:lnSpc>
                <a:spcPct val="90000"/>
              </a:lnSpc>
              <a:spcBef>
                <a:spcPts val="800"/>
              </a:spcBef>
              <a:spcAft>
                <a:spcPts val="0"/>
              </a:spcAft>
              <a:buClr>
                <a:schemeClr val="dk1"/>
              </a:buClr>
              <a:buSzPts val="1300"/>
              <a:buFont typeface="Arial"/>
              <a:buChar char="•"/>
            </a:pPr>
            <a:r>
              <a:rPr b="1" i="0" lang="en" sz="1300" u="none" strike="noStrike"/>
              <a:t>Hierarchy Inheritance:</a:t>
            </a:r>
            <a:r>
              <a:rPr b="0" i="0" lang="en" sz="1300" u="none" strike="noStrike"/>
              <a:t> Class B and C inherits class A in hierarchy order using extends keyword</a:t>
            </a:r>
            <a:endParaRPr/>
          </a:p>
          <a:p>
            <a:pPr indent="-184150" lvl="0" marL="177800" rtl="0" algn="l">
              <a:lnSpc>
                <a:spcPct val="90000"/>
              </a:lnSpc>
              <a:spcBef>
                <a:spcPts val="800"/>
              </a:spcBef>
              <a:spcAft>
                <a:spcPts val="0"/>
              </a:spcAft>
              <a:buClr>
                <a:schemeClr val="dk1"/>
              </a:buClr>
              <a:buSzPts val="1300"/>
              <a:buFont typeface="Arial"/>
              <a:buChar char="•"/>
            </a:pPr>
            <a:r>
              <a:rPr b="1" i="0" lang="en" sz="1300" u="none" strike="noStrike"/>
              <a:t>Multiple Inheritance:</a:t>
            </a:r>
            <a:r>
              <a:rPr b="0" i="0" lang="en" sz="1300" u="none" strike="noStrike"/>
              <a:t> Class C inherits Class A and B. Here A and B both are superclass and C is only one child class. </a:t>
            </a:r>
            <a:r>
              <a:rPr b="1" i="0" lang="en" sz="1300" u="none" strike="noStrike"/>
              <a:t>Java is not supporting Multiple Inheritance</a:t>
            </a:r>
            <a:r>
              <a:rPr b="0" i="0" lang="en" sz="1300" u="none" strike="noStrike"/>
              <a:t>, but we can implement using Interfaces.</a:t>
            </a:r>
            <a:endParaRPr/>
          </a:p>
          <a:p>
            <a:pPr indent="-184150" lvl="0" marL="177800" rtl="0" algn="l">
              <a:lnSpc>
                <a:spcPct val="90000"/>
              </a:lnSpc>
              <a:spcBef>
                <a:spcPts val="800"/>
              </a:spcBef>
              <a:spcAft>
                <a:spcPts val="0"/>
              </a:spcAft>
              <a:buClr>
                <a:schemeClr val="dk1"/>
              </a:buClr>
              <a:buSzPts val="1300"/>
              <a:buFont typeface="Arial"/>
              <a:buChar char="•"/>
            </a:pPr>
            <a:r>
              <a:rPr b="1" i="0" lang="en" sz="1300" u="none" strike="noStrike"/>
              <a:t>Hybrid Inheritance:</a:t>
            </a:r>
            <a:r>
              <a:rPr b="0" i="0" lang="en" sz="1300" u="none" strike="noStrike"/>
              <a:t> Class D inherits class B and class C. Class B and C inherits A. Here same again Class D inherits two superclass, so </a:t>
            </a:r>
            <a:r>
              <a:rPr b="1" i="0" lang="en" sz="1300" u="none" strike="noStrike"/>
              <a:t>Java is not supporting Hybrid Inheritance </a:t>
            </a:r>
            <a:r>
              <a:rPr b="0" i="0" lang="en" sz="1300" u="none" strike="noStrike"/>
              <a:t>as well.</a:t>
            </a:r>
            <a:endParaRPr/>
          </a:p>
          <a:p>
            <a:pPr indent="0" lvl="0" marL="0" rtl="0" algn="l">
              <a:lnSpc>
                <a:spcPct val="90000"/>
              </a:lnSpc>
              <a:spcBef>
                <a:spcPts val="800"/>
              </a:spcBef>
              <a:spcAft>
                <a:spcPts val="0"/>
              </a:spcAft>
              <a:buClr>
                <a:schemeClr val="dk1"/>
              </a:buClr>
              <a:buSzPts val="1300"/>
              <a:buNone/>
            </a:pPr>
            <a:r>
              <a:t/>
            </a:r>
            <a:endParaRPr sz="1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g37d739b2787_0_21"/>
          <p:cNvSpPr/>
          <p:nvPr/>
        </p:nvSpPr>
        <p:spPr>
          <a:xfrm>
            <a:off x="0" y="0"/>
            <a:ext cx="91419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 name="Google Shape;85;g37d739b2787_0_21"/>
          <p:cNvSpPr txBox="1"/>
          <p:nvPr>
            <p:ph type="title"/>
          </p:nvPr>
        </p:nvSpPr>
        <p:spPr>
          <a:xfrm>
            <a:off x="479161" y="502664"/>
            <a:ext cx="8182200" cy="7995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5000"/>
              <a:buFont typeface="Calibri"/>
              <a:buNone/>
            </a:pPr>
            <a:r>
              <a:rPr b="1" lang="en" sz="5000">
                <a:latin typeface="Calibri"/>
                <a:ea typeface="Calibri"/>
                <a:cs typeface="Calibri"/>
                <a:sym typeface="Calibri"/>
              </a:rPr>
              <a:t>Example</a:t>
            </a:r>
            <a:endParaRPr/>
          </a:p>
        </p:txBody>
      </p:sp>
      <p:sp>
        <p:nvSpPr>
          <p:cNvPr id="86" name="Google Shape;86;g37d739b2787_0_21"/>
          <p:cNvSpPr/>
          <p:nvPr/>
        </p:nvSpPr>
        <p:spPr>
          <a:xfrm>
            <a:off x="2542032" y="1350066"/>
            <a:ext cx="4057650" cy="13716"/>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309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computer code with text&#10;&#10;Description automatically generated" id="87" name="Google Shape;87;g37d739b2787_0_21"/>
          <p:cNvPicPr preferRelativeResize="0"/>
          <p:nvPr/>
        </p:nvPicPr>
        <p:blipFill rotWithShape="1">
          <a:blip r:embed="rId3">
            <a:alphaModFix/>
          </a:blip>
          <a:srcRect b="0" l="0" r="0" t="0"/>
          <a:stretch/>
        </p:blipFill>
        <p:spPr>
          <a:xfrm>
            <a:off x="3203851" y="1649415"/>
            <a:ext cx="2652779" cy="3063880"/>
          </a:xfrm>
          <a:prstGeom prst="rect">
            <a:avLst/>
          </a:prstGeom>
          <a:noFill/>
          <a:ln>
            <a:noFill/>
          </a:ln>
        </p:spPr>
      </p:pic>
      <p:pic>
        <p:nvPicPr>
          <p:cNvPr descr="A screenshot of a computer code&#10;&#10;Description automatically generated" id="88" name="Google Shape;88;g37d739b2787_0_21"/>
          <p:cNvPicPr preferRelativeResize="0"/>
          <p:nvPr/>
        </p:nvPicPr>
        <p:blipFill rotWithShape="1">
          <a:blip r:embed="rId4">
            <a:alphaModFix/>
          </a:blip>
          <a:srcRect b="0" l="0" r="0" t="0"/>
          <a:stretch/>
        </p:blipFill>
        <p:spPr>
          <a:xfrm>
            <a:off x="173165" y="1649414"/>
            <a:ext cx="2818637" cy="3063878"/>
          </a:xfrm>
          <a:prstGeom prst="rect">
            <a:avLst/>
          </a:prstGeom>
          <a:noFill/>
          <a:ln>
            <a:noFill/>
          </a:ln>
        </p:spPr>
      </p:pic>
      <p:pic>
        <p:nvPicPr>
          <p:cNvPr descr="A computer code with text&#10;&#10;Description automatically generated with medium confidence" id="89" name="Google Shape;89;g37d739b2787_0_21"/>
          <p:cNvPicPr preferRelativeResize="0"/>
          <p:nvPr/>
        </p:nvPicPr>
        <p:blipFill rotWithShape="1">
          <a:blip r:embed="rId5">
            <a:alphaModFix/>
          </a:blip>
          <a:srcRect b="0" l="0" r="0" t="0"/>
          <a:stretch/>
        </p:blipFill>
        <p:spPr>
          <a:xfrm>
            <a:off x="6068679" y="2571750"/>
            <a:ext cx="2818638" cy="923104"/>
          </a:xfrm>
          <a:prstGeom prst="rect">
            <a:avLst/>
          </a:prstGeom>
          <a:noFill/>
          <a:ln>
            <a:noFill/>
          </a:ln>
        </p:spPr>
      </p:pic>
      <p:sp>
        <p:nvSpPr>
          <p:cNvPr id="90" name="Google Shape;90;g37d739b2787_0_21"/>
          <p:cNvSpPr txBox="1"/>
          <p:nvPr/>
        </p:nvSpPr>
        <p:spPr>
          <a:xfrm>
            <a:off x="6068678" y="3749879"/>
            <a:ext cx="28185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800" u="none" cap="none" strike="noStrike">
                <a:solidFill>
                  <a:schemeClr val="dk1"/>
                </a:solidFill>
                <a:latin typeface="Arial"/>
                <a:ea typeface="Arial"/>
                <a:cs typeface="Arial"/>
                <a:sym typeface="Arial"/>
              </a:rPr>
              <a:t>Output :</a:t>
            </a:r>
            <a:endParaRPr sz="1100"/>
          </a:p>
          <a:p>
            <a:pPr indent="0" lvl="0" marL="0" marR="0" rtl="0" algn="l">
              <a:spcBef>
                <a:spcPts val="0"/>
              </a:spcBef>
              <a:spcAft>
                <a:spcPts val="0"/>
              </a:spcAft>
              <a:buNone/>
            </a:pPr>
            <a:r>
              <a:rPr lang="en" sz="800">
                <a:solidFill>
                  <a:schemeClr val="dk1"/>
                </a:solidFill>
                <a:latin typeface="Arial"/>
                <a:ea typeface="Arial"/>
                <a:cs typeface="Arial"/>
                <a:sym typeface="Arial"/>
              </a:rPr>
              <a:t>No of wheels in car 4</a:t>
            </a:r>
            <a:endParaRPr sz="1100"/>
          </a:p>
          <a:p>
            <a:pPr indent="0" lvl="0" marL="0" marR="0" rtl="0" algn="l">
              <a:spcBef>
                <a:spcPts val="0"/>
              </a:spcBef>
              <a:spcAft>
                <a:spcPts val="0"/>
              </a:spcAft>
              <a:buNone/>
            </a:pPr>
            <a:r>
              <a:rPr lang="en" sz="800">
                <a:solidFill>
                  <a:schemeClr val="dk1"/>
                </a:solidFill>
                <a:latin typeface="Arial"/>
                <a:ea typeface="Arial"/>
                <a:cs typeface="Arial"/>
                <a:sym typeface="Arial"/>
              </a:rPr>
              <a:t>Status of the wheels stop</a:t>
            </a:r>
            <a:endParaRPr sz="1100"/>
          </a:p>
          <a:p>
            <a:pPr indent="0" lvl="0" marL="0" marR="0" rtl="0" algn="l">
              <a:spcBef>
                <a:spcPts val="0"/>
              </a:spcBef>
              <a:spcAft>
                <a:spcPts val="0"/>
              </a:spcAft>
              <a:buNone/>
            </a:pPr>
            <a:r>
              <a:rPr lang="en" sz="800">
                <a:solidFill>
                  <a:schemeClr val="dk1"/>
                </a:solidFill>
                <a:latin typeface="Arial"/>
                <a:ea typeface="Arial"/>
                <a:cs typeface="Arial"/>
                <a:sym typeface="Arial"/>
              </a:rPr>
              <a:t>Car alloy wheel true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7d739b2787_0_31"/>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Inheritance and Access modifiers</a:t>
            </a:r>
            <a:endParaRPr/>
          </a:p>
        </p:txBody>
      </p:sp>
      <p:sp>
        <p:nvSpPr>
          <p:cNvPr id="96" name="Google Shape;96;g37d739b2787_0_31"/>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fontScale="77500" lnSpcReduction="20000"/>
          </a:bodyPr>
          <a:lstStyle/>
          <a:p>
            <a:pPr indent="-160655" lvl="0" marL="177800" rtl="0" algn="l">
              <a:lnSpc>
                <a:spcPct val="90000"/>
              </a:lnSpc>
              <a:spcBef>
                <a:spcPts val="0"/>
              </a:spcBef>
              <a:spcAft>
                <a:spcPts val="0"/>
              </a:spcAft>
              <a:buClr>
                <a:schemeClr val="dk1"/>
              </a:buClr>
              <a:buSzPct val="100000"/>
              <a:buChar char="●"/>
            </a:pPr>
            <a:r>
              <a:rPr lang="en" sz="1200">
                <a:latin typeface="Arial"/>
                <a:ea typeface="Arial"/>
                <a:cs typeface="Arial"/>
                <a:sym typeface="Arial"/>
              </a:rPr>
              <a:t>Public members are inherited.</a:t>
            </a:r>
            <a:endParaRPr/>
          </a:p>
          <a:p>
            <a:pPr indent="-160655" lvl="0" marL="177800" rtl="0" algn="l">
              <a:lnSpc>
                <a:spcPct val="90000"/>
              </a:lnSpc>
              <a:spcBef>
                <a:spcPts val="800"/>
              </a:spcBef>
              <a:spcAft>
                <a:spcPts val="0"/>
              </a:spcAft>
              <a:buClr>
                <a:schemeClr val="dk1"/>
              </a:buClr>
              <a:buSzPct val="100000"/>
              <a:buChar char="●"/>
            </a:pPr>
            <a:r>
              <a:rPr lang="en" sz="1200">
                <a:latin typeface="Arial"/>
                <a:ea typeface="Arial"/>
                <a:cs typeface="Arial"/>
                <a:sym typeface="Arial"/>
              </a:rPr>
              <a:t>Private members are not inherited.</a:t>
            </a:r>
            <a:endParaRPr/>
          </a:p>
          <a:p>
            <a:pPr indent="-160655" lvl="0" marL="177800" rtl="0" algn="l">
              <a:lnSpc>
                <a:spcPct val="90000"/>
              </a:lnSpc>
              <a:spcBef>
                <a:spcPts val="800"/>
              </a:spcBef>
              <a:spcAft>
                <a:spcPts val="0"/>
              </a:spcAft>
              <a:buClr>
                <a:schemeClr val="dk1"/>
              </a:buClr>
              <a:buSzPct val="100000"/>
              <a:buChar char="●"/>
            </a:pPr>
            <a:r>
              <a:rPr lang="en" sz="1200">
                <a:latin typeface="Arial"/>
                <a:ea typeface="Arial"/>
                <a:cs typeface="Arial"/>
                <a:sym typeface="Arial"/>
              </a:rPr>
              <a:t>default members are inherited in the same package subclass but not in different package subclass.</a:t>
            </a:r>
            <a:endParaRPr/>
          </a:p>
          <a:p>
            <a:pPr indent="-160655" lvl="0" marL="177800" rtl="0" algn="l">
              <a:lnSpc>
                <a:spcPct val="90000"/>
              </a:lnSpc>
              <a:spcBef>
                <a:spcPts val="800"/>
              </a:spcBef>
              <a:spcAft>
                <a:spcPts val="0"/>
              </a:spcAft>
              <a:buClr>
                <a:schemeClr val="dk1"/>
              </a:buClr>
              <a:buSzPct val="100000"/>
              <a:buChar char="●"/>
            </a:pPr>
            <a:r>
              <a:rPr lang="en" sz="1200">
                <a:latin typeface="Arial"/>
                <a:ea typeface="Arial"/>
                <a:cs typeface="Arial"/>
                <a:sym typeface="Arial"/>
              </a:rPr>
              <a:t>Protected members are inherited in the different package subclass too. </a:t>
            </a:r>
            <a:endParaRPr/>
          </a:p>
          <a:p>
            <a:pPr indent="0" lvl="0" marL="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b="1"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b="1"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b="1"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rPr b="1" lang="en" sz="1200">
                <a:latin typeface="Arial"/>
                <a:ea typeface="Arial"/>
                <a:cs typeface="Arial"/>
                <a:sym typeface="Arial"/>
              </a:rPr>
              <a:t>Overriding:</a:t>
            </a:r>
            <a:endParaRPr/>
          </a:p>
          <a:p>
            <a:pPr indent="0" lvl="0" marL="0" rtl="0" algn="l">
              <a:lnSpc>
                <a:spcPct val="90000"/>
              </a:lnSpc>
              <a:spcBef>
                <a:spcPts val="800"/>
              </a:spcBef>
              <a:spcAft>
                <a:spcPts val="0"/>
              </a:spcAft>
              <a:buClr>
                <a:schemeClr val="dk1"/>
              </a:buClr>
              <a:buSzPct val="100000"/>
              <a:buNone/>
            </a:pPr>
            <a:r>
              <a:rPr lang="en" sz="1200">
                <a:latin typeface="Arial"/>
                <a:ea typeface="Arial"/>
                <a:cs typeface="Arial"/>
                <a:sym typeface="Arial"/>
              </a:rPr>
              <a:t>Only super class methods can be overridden not the instance variables. Only those methods should be overridden whose behaviors may change in subclasses.</a:t>
            </a:r>
            <a:endParaRPr/>
          </a:p>
          <a:p>
            <a:pPr indent="0" lvl="0" marL="0" rtl="0" algn="l">
              <a:lnSpc>
                <a:spcPct val="90000"/>
              </a:lnSpc>
              <a:spcBef>
                <a:spcPts val="800"/>
              </a:spcBef>
              <a:spcAft>
                <a:spcPts val="0"/>
              </a:spcAft>
              <a:buClr>
                <a:schemeClr val="dk1"/>
              </a:buClr>
              <a:buSzPct val="100000"/>
              <a:buNone/>
            </a:pPr>
            <a:r>
              <a:rPr lang="en" sz="1200">
                <a:latin typeface="Arial"/>
                <a:ea typeface="Arial"/>
                <a:cs typeface="Arial"/>
                <a:sym typeface="Arial"/>
              </a:rPr>
              <a:t>If subclass wants to use super class method, use super.methodname() in the subclass method.</a:t>
            </a:r>
            <a:endParaRPr/>
          </a:p>
          <a:p>
            <a:pPr indent="0" lvl="0" marL="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a:p>
            <a:pPr indent="-101600" lvl="0" marL="177800" rtl="0" algn="l">
              <a:lnSpc>
                <a:spcPct val="90000"/>
              </a:lnSpc>
              <a:spcBef>
                <a:spcPts val="800"/>
              </a:spcBef>
              <a:spcAft>
                <a:spcPts val="0"/>
              </a:spcAft>
              <a:buClr>
                <a:schemeClr val="dk1"/>
              </a:buClr>
              <a:buSzPct val="100000"/>
              <a:buNone/>
            </a:pPr>
            <a:r>
              <a:t/>
            </a:r>
            <a:endParaRPr sz="1200">
              <a:latin typeface="Arial"/>
              <a:ea typeface="Arial"/>
              <a:cs typeface="Arial"/>
              <a:sym typeface="Arial"/>
            </a:endParaRPr>
          </a:p>
        </p:txBody>
      </p:sp>
      <p:pic>
        <p:nvPicPr>
          <p:cNvPr id="97" name="Google Shape;97;g37d739b2787_0_31"/>
          <p:cNvPicPr preferRelativeResize="0"/>
          <p:nvPr/>
        </p:nvPicPr>
        <p:blipFill rotWithShape="1">
          <a:blip r:embed="rId3">
            <a:alphaModFix/>
          </a:blip>
          <a:srcRect b="0" l="0" r="0" t="0"/>
          <a:stretch/>
        </p:blipFill>
        <p:spPr>
          <a:xfrm>
            <a:off x="715541" y="2017367"/>
            <a:ext cx="6186704" cy="169185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7d739b2787_0_37"/>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Restrict Inheritance</a:t>
            </a:r>
            <a:endParaRPr/>
          </a:p>
        </p:txBody>
      </p:sp>
      <p:sp>
        <p:nvSpPr>
          <p:cNvPr id="103" name="Google Shape;103;g37d739b2787_0_37"/>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If you declare a class as final, no other class can extend it. Java APIs has many classes as final. Example : String Class</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If you declare an instance variable as final, you can’t change it’s value.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If you declare a method as final, subclass can’t override it.</a:t>
            </a:r>
            <a:endParaRPr/>
          </a:p>
          <a:p>
            <a:pPr indent="0" lvl="0" marL="0" rtl="0" algn="l">
              <a:lnSpc>
                <a:spcPct val="90000"/>
              </a:lnSpc>
              <a:spcBef>
                <a:spcPts val="800"/>
              </a:spcBef>
              <a:spcAft>
                <a:spcPts val="0"/>
              </a:spcAft>
              <a:buClr>
                <a:schemeClr val="dk1"/>
              </a:buClr>
              <a:buSzPts val="1500"/>
              <a:buNone/>
            </a:pPr>
            <a:r>
              <a:rPr b="1" lang="en" sz="1500">
                <a:latin typeface="Arial"/>
                <a:ea typeface="Arial"/>
                <a:cs typeface="Arial"/>
                <a:sym typeface="Arial"/>
              </a:rPr>
              <a:t>Rules for Overriding:</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Arguments must be the same and return type must be compatible.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The method can’t be less accessible.</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d739b2787_0_47"/>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Overloading a method</a:t>
            </a:r>
            <a:endParaRPr/>
          </a:p>
        </p:txBody>
      </p:sp>
      <p:sp>
        <p:nvSpPr>
          <p:cNvPr id="109" name="Google Shape;109;g37d739b2787_0_47"/>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lang="en" sz="1500">
                <a:latin typeface="Arial"/>
                <a:ea typeface="Arial"/>
                <a:cs typeface="Arial"/>
                <a:sym typeface="Arial"/>
              </a:rPr>
              <a:t>Method overloading is nothing more than having two methods with the same name but different argument lists. It has nothing to do with inheritance and polymorphism. An overloaded method is NOT the same as an overridden method.</a:t>
            </a:r>
            <a:endParaRPr/>
          </a:p>
          <a:p>
            <a:pPr indent="0" lvl="0" marL="0" rtl="0" algn="l">
              <a:lnSpc>
                <a:spcPct val="90000"/>
              </a:lnSpc>
              <a:spcBef>
                <a:spcPts val="800"/>
              </a:spcBef>
              <a:spcAft>
                <a:spcPts val="0"/>
              </a:spcAft>
              <a:buClr>
                <a:schemeClr val="dk1"/>
              </a:buClr>
              <a:buSzPts val="1500"/>
              <a:buNone/>
            </a:pPr>
            <a:r>
              <a:rPr b="1" lang="en" sz="1500">
                <a:latin typeface="Arial"/>
                <a:ea typeface="Arial"/>
                <a:cs typeface="Arial"/>
                <a:sym typeface="Arial"/>
              </a:rPr>
              <a:t>Rules of Overloading:</a:t>
            </a:r>
            <a:endParaRPr/>
          </a:p>
          <a:p>
            <a:pPr indent="-247650" lvl="0" marL="254000" rtl="0" algn="l">
              <a:lnSpc>
                <a:spcPct val="90000"/>
              </a:lnSpc>
              <a:spcBef>
                <a:spcPts val="800"/>
              </a:spcBef>
              <a:spcAft>
                <a:spcPts val="0"/>
              </a:spcAft>
              <a:buClr>
                <a:schemeClr val="dk1"/>
              </a:buClr>
              <a:buSzPts val="1500"/>
              <a:buAutoNum type="arabicPeriod"/>
            </a:pPr>
            <a:r>
              <a:rPr lang="en" sz="1500">
                <a:latin typeface="Arial"/>
                <a:ea typeface="Arial"/>
                <a:cs typeface="Arial"/>
                <a:sym typeface="Arial"/>
              </a:rPr>
              <a:t>The return types can be different.</a:t>
            </a:r>
            <a:endParaRPr/>
          </a:p>
          <a:p>
            <a:pPr indent="-247650" lvl="0" marL="254000" rtl="0" algn="l">
              <a:lnSpc>
                <a:spcPct val="90000"/>
              </a:lnSpc>
              <a:spcBef>
                <a:spcPts val="800"/>
              </a:spcBef>
              <a:spcAft>
                <a:spcPts val="0"/>
              </a:spcAft>
              <a:buClr>
                <a:schemeClr val="dk1"/>
              </a:buClr>
              <a:buSzPts val="1500"/>
              <a:buAutoNum type="arabicPeriod"/>
            </a:pPr>
            <a:r>
              <a:rPr lang="en" sz="1500">
                <a:latin typeface="Arial"/>
                <a:ea typeface="Arial"/>
                <a:cs typeface="Arial"/>
                <a:sym typeface="Arial"/>
              </a:rPr>
              <a:t>You can’t change ONLY the return type.</a:t>
            </a:r>
            <a:endParaRPr/>
          </a:p>
          <a:p>
            <a:pPr indent="-247650" lvl="0" marL="254000" rtl="0" algn="l">
              <a:lnSpc>
                <a:spcPct val="90000"/>
              </a:lnSpc>
              <a:spcBef>
                <a:spcPts val="800"/>
              </a:spcBef>
              <a:spcAft>
                <a:spcPts val="0"/>
              </a:spcAft>
              <a:buClr>
                <a:schemeClr val="dk1"/>
              </a:buClr>
              <a:buSzPts val="1500"/>
              <a:buAutoNum type="arabicPeriod"/>
            </a:pPr>
            <a:r>
              <a:rPr lang="en" sz="1500">
                <a:latin typeface="Arial"/>
                <a:ea typeface="Arial"/>
                <a:cs typeface="Arial"/>
                <a:sym typeface="Arial"/>
              </a:rPr>
              <a:t>You can vary the access levels in any direction.</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g37d739b2787_0_52"/>
          <p:cNvSpPr/>
          <p:nvPr/>
        </p:nvSpPr>
        <p:spPr>
          <a:xfrm>
            <a:off x="0" y="0"/>
            <a:ext cx="91419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6" name="Google Shape;116;g37d739b2787_0_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Calibri"/>
              <a:buNone/>
            </a:pPr>
            <a:r>
              <a:rPr b="1" lang="en" sz="4100">
                <a:latin typeface="Calibri"/>
                <a:ea typeface="Calibri"/>
                <a:cs typeface="Calibri"/>
                <a:sym typeface="Calibri"/>
              </a:rPr>
              <a:t>Abstraction</a:t>
            </a:r>
            <a:endParaRPr/>
          </a:p>
        </p:txBody>
      </p:sp>
      <p:sp>
        <p:nvSpPr>
          <p:cNvPr id="117" name="Google Shape;117;g37d739b2787_0_52"/>
          <p:cNvSpPr/>
          <p:nvPr/>
        </p:nvSpPr>
        <p:spPr>
          <a:xfrm>
            <a:off x="501777" y="1258030"/>
            <a:ext cx="8140446" cy="13716"/>
          </a:xfrm>
          <a:custGeom>
            <a:rect b="b" l="l" r="r" t="t"/>
            <a:pathLst>
              <a:path extrusionOk="0" fill="none" h="18288" w="10853928">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extrusionOk="0" h="18288" w="10853928">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cap="rnd" cmpd="sng" w="309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8" name="Google Shape;118;g37d739b2787_0_52"/>
          <p:cNvSpPr txBox="1"/>
          <p:nvPr>
            <p:ph idx="1" type="body"/>
          </p:nvPr>
        </p:nvSpPr>
        <p:spPr>
          <a:xfrm>
            <a:off x="628649" y="1447037"/>
            <a:ext cx="8257200" cy="34863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100"/>
              <a:buNone/>
            </a:pPr>
            <a:r>
              <a:rPr b="0" i="0" lang="en" sz="1100" u="none" strike="noStrike">
                <a:highlight>
                  <a:srgbClr val="FFFFFF"/>
                </a:highlight>
                <a:latin typeface="Arial"/>
                <a:ea typeface="Arial"/>
                <a:cs typeface="Arial"/>
                <a:sym typeface="Arial"/>
              </a:rPr>
              <a:t>Abstraction is a process of hiding implementation details and exposing only the functionality to the user. In abstraction, we deal with ideas and not events. This means the user will only know “what it does” rather than “how it does”.</a:t>
            </a:r>
            <a:endParaRPr/>
          </a:p>
          <a:p>
            <a:pPr indent="0" lvl="0" marL="0" rtl="0" algn="l">
              <a:lnSpc>
                <a:spcPct val="90000"/>
              </a:lnSpc>
              <a:spcBef>
                <a:spcPts val="800"/>
              </a:spcBef>
              <a:spcAft>
                <a:spcPts val="0"/>
              </a:spcAft>
              <a:buClr>
                <a:schemeClr val="dk1"/>
              </a:buClr>
              <a:buSzPts val="1100"/>
              <a:buNone/>
            </a:pPr>
            <a:r>
              <a:t/>
            </a:r>
            <a:endParaRPr b="1" i="0" sz="1100" u="none" strike="noStrike">
              <a:latin typeface="Arial"/>
              <a:ea typeface="Arial"/>
              <a:cs typeface="Arial"/>
              <a:sym typeface="Arial"/>
            </a:endParaRPr>
          </a:p>
          <a:p>
            <a:pPr indent="0" lvl="0" marL="0" rtl="0" algn="l">
              <a:lnSpc>
                <a:spcPct val="90000"/>
              </a:lnSpc>
              <a:spcBef>
                <a:spcPts val="800"/>
              </a:spcBef>
              <a:spcAft>
                <a:spcPts val="0"/>
              </a:spcAft>
              <a:buClr>
                <a:schemeClr val="dk1"/>
              </a:buClr>
              <a:buSzPts val="1100"/>
              <a:buNone/>
            </a:pPr>
            <a:r>
              <a:rPr b="1" i="0" lang="en" sz="1100" u="none" strike="noStrike">
                <a:latin typeface="Arial"/>
                <a:ea typeface="Arial"/>
                <a:cs typeface="Arial"/>
                <a:sym typeface="Arial"/>
              </a:rPr>
              <a:t>There are two ways to achieve abstraction in Java:</a:t>
            </a:r>
            <a:endParaRPr b="0" i="0" sz="1100" u="none" strike="noStrike">
              <a:latin typeface="Arial"/>
              <a:ea typeface="Arial"/>
              <a:cs typeface="Arial"/>
              <a:sym typeface="Arial"/>
            </a:endParaRPr>
          </a:p>
          <a:p>
            <a:pPr indent="-184150" lvl="0" marL="177800" rtl="0" algn="l">
              <a:lnSpc>
                <a:spcPct val="90000"/>
              </a:lnSpc>
              <a:spcBef>
                <a:spcPts val="800"/>
              </a:spcBef>
              <a:spcAft>
                <a:spcPts val="0"/>
              </a:spcAft>
              <a:buClr>
                <a:schemeClr val="dk1"/>
              </a:buClr>
              <a:buSzPts val="1100"/>
              <a:buFont typeface="Arial"/>
              <a:buChar char="•"/>
            </a:pPr>
            <a:r>
              <a:rPr b="0" i="0" lang="en" sz="1100" u="none" strike="noStrike">
                <a:latin typeface="Arial"/>
                <a:ea typeface="Arial"/>
                <a:cs typeface="Arial"/>
                <a:sym typeface="Arial"/>
              </a:rPr>
              <a:t>Abstract class (0 to 100%)</a:t>
            </a:r>
            <a:endParaRPr/>
          </a:p>
          <a:p>
            <a:pPr indent="-184150" lvl="0" marL="177800" rtl="0" algn="l">
              <a:lnSpc>
                <a:spcPct val="90000"/>
              </a:lnSpc>
              <a:spcBef>
                <a:spcPts val="800"/>
              </a:spcBef>
              <a:spcAft>
                <a:spcPts val="0"/>
              </a:spcAft>
              <a:buClr>
                <a:schemeClr val="dk1"/>
              </a:buClr>
              <a:buSzPts val="1100"/>
              <a:buFont typeface="Arial"/>
              <a:buChar char="•"/>
            </a:pPr>
            <a:r>
              <a:rPr b="0" i="0" lang="en" sz="1100" u="none" strike="noStrike">
                <a:latin typeface="Arial"/>
                <a:ea typeface="Arial"/>
                <a:cs typeface="Arial"/>
                <a:sym typeface="Arial"/>
              </a:rPr>
              <a:t>Interface (100%)</a:t>
            </a:r>
            <a:endParaRPr/>
          </a:p>
          <a:p>
            <a:pPr indent="0" lvl="0" marL="0" rtl="0" algn="l">
              <a:lnSpc>
                <a:spcPct val="90000"/>
              </a:lnSpc>
              <a:spcBef>
                <a:spcPts val="800"/>
              </a:spcBef>
              <a:spcAft>
                <a:spcPts val="0"/>
              </a:spcAft>
              <a:buClr>
                <a:schemeClr val="dk1"/>
              </a:buClr>
              <a:buSzPts val="1100"/>
              <a:buNone/>
            </a:pPr>
            <a:r>
              <a:t/>
            </a:r>
            <a:endParaRPr b="1" i="0" sz="1100" u="none" strike="noStrike">
              <a:latin typeface="Arial"/>
              <a:ea typeface="Arial"/>
              <a:cs typeface="Arial"/>
              <a:sym typeface="Arial"/>
            </a:endParaRPr>
          </a:p>
          <a:p>
            <a:pPr indent="0" lvl="0" marL="0" rtl="0" algn="l">
              <a:lnSpc>
                <a:spcPct val="90000"/>
              </a:lnSpc>
              <a:spcBef>
                <a:spcPts val="800"/>
              </a:spcBef>
              <a:spcAft>
                <a:spcPts val="0"/>
              </a:spcAft>
              <a:buClr>
                <a:schemeClr val="dk1"/>
              </a:buClr>
              <a:buSzPts val="1100"/>
              <a:buNone/>
            </a:pPr>
            <a:r>
              <a:rPr b="1" i="0" lang="en" sz="1100" u="none" strike="noStrike">
                <a:latin typeface="Arial"/>
                <a:ea typeface="Arial"/>
                <a:cs typeface="Arial"/>
                <a:sym typeface="Arial"/>
              </a:rPr>
              <a:t>Certain key points should be remembered regarding this pillar of OOPS as follows:</a:t>
            </a:r>
            <a:endParaRPr/>
          </a:p>
          <a:p>
            <a:pPr indent="-184150" lvl="0" marL="177800" rtl="0" algn="l">
              <a:lnSpc>
                <a:spcPct val="90000"/>
              </a:lnSpc>
              <a:spcBef>
                <a:spcPts val="800"/>
              </a:spcBef>
              <a:spcAft>
                <a:spcPts val="0"/>
              </a:spcAft>
              <a:buClr>
                <a:schemeClr val="dk1"/>
              </a:buClr>
              <a:buSzPts val="1100"/>
              <a:buFont typeface="Arial"/>
              <a:buChar char="•"/>
            </a:pPr>
            <a:r>
              <a:rPr b="0" i="0" lang="en" sz="1100" u="none" strike="noStrike">
                <a:latin typeface="Arial"/>
                <a:ea typeface="Arial"/>
                <a:cs typeface="Arial"/>
                <a:sym typeface="Arial"/>
              </a:rPr>
              <a:t>The class should be marked as abstract if a class has one or many abstract methods.</a:t>
            </a:r>
            <a:endParaRPr/>
          </a:p>
          <a:p>
            <a:pPr indent="-184150" lvl="0" marL="177800" rtl="0" algn="l">
              <a:lnSpc>
                <a:spcPct val="90000"/>
              </a:lnSpc>
              <a:spcBef>
                <a:spcPts val="800"/>
              </a:spcBef>
              <a:spcAft>
                <a:spcPts val="0"/>
              </a:spcAft>
              <a:buClr>
                <a:schemeClr val="dk1"/>
              </a:buClr>
              <a:buSzPts val="1100"/>
              <a:buFont typeface="Arial"/>
              <a:buChar char="•"/>
            </a:pPr>
            <a:r>
              <a:rPr b="0" i="0" lang="en" sz="1100" u="none" strike="noStrike">
                <a:latin typeface="Arial"/>
                <a:ea typeface="Arial"/>
                <a:cs typeface="Arial"/>
                <a:sym typeface="Arial"/>
              </a:rPr>
              <a:t>An abstract class can have constructors, concrete methods, static method, and final method</a:t>
            </a:r>
            <a:endParaRPr/>
          </a:p>
          <a:p>
            <a:pPr indent="-184150" lvl="0" marL="177800" rtl="0" algn="l">
              <a:lnSpc>
                <a:spcPct val="90000"/>
              </a:lnSpc>
              <a:spcBef>
                <a:spcPts val="800"/>
              </a:spcBef>
              <a:spcAft>
                <a:spcPts val="0"/>
              </a:spcAft>
              <a:buClr>
                <a:schemeClr val="dk1"/>
              </a:buClr>
              <a:buSzPts val="1100"/>
              <a:buFont typeface="Arial"/>
              <a:buChar char="•"/>
            </a:pPr>
            <a:r>
              <a:rPr b="0" i="0" lang="en" sz="1100" u="none" strike="noStrike">
                <a:latin typeface="Arial"/>
                <a:ea typeface="Arial"/>
                <a:cs typeface="Arial"/>
                <a:sym typeface="Arial"/>
              </a:rPr>
              <a:t>Abstract class can’t be instantiated directly with the </a:t>
            </a:r>
            <a:r>
              <a:rPr b="1" i="1" lang="en" sz="1100" u="none" strike="noStrike">
                <a:latin typeface="Arial"/>
                <a:ea typeface="Arial"/>
                <a:cs typeface="Arial"/>
                <a:sym typeface="Arial"/>
              </a:rPr>
              <a:t>new </a:t>
            </a:r>
            <a:r>
              <a:rPr b="0" i="0" lang="en" sz="1100" u="none" strike="noStrike">
                <a:latin typeface="Arial"/>
                <a:ea typeface="Arial"/>
                <a:cs typeface="Arial"/>
                <a:sym typeface="Arial"/>
              </a:rPr>
              <a:t>operator. </a:t>
            </a:r>
            <a:r>
              <a:rPr b="0" i="0" lang="en" sz="1100" u="none" strike="noStrike">
                <a:highlight>
                  <a:srgbClr val="FFFFFF"/>
                </a:highlight>
                <a:latin typeface="Arial"/>
                <a:ea typeface="Arial"/>
                <a:cs typeface="Arial"/>
                <a:sym typeface="Arial"/>
              </a:rPr>
              <a:t>It can be possible as shown in pre tag below:</a:t>
            </a:r>
            <a:endParaRPr sz="1100">
              <a:highlight>
                <a:srgbClr val="FFFFFF"/>
              </a:highlight>
              <a:latin typeface="Arial"/>
              <a:ea typeface="Arial"/>
              <a:cs typeface="Arial"/>
              <a:sym typeface="Arial"/>
            </a:endParaRPr>
          </a:p>
          <a:p>
            <a:pPr indent="0" lvl="0" marL="0" rtl="0" algn="l">
              <a:lnSpc>
                <a:spcPct val="90000"/>
              </a:lnSpc>
              <a:spcBef>
                <a:spcPts val="800"/>
              </a:spcBef>
              <a:spcAft>
                <a:spcPts val="0"/>
              </a:spcAft>
              <a:buClr>
                <a:schemeClr val="dk1"/>
              </a:buClr>
              <a:buSzPts val="1100"/>
              <a:buNone/>
            </a:pPr>
            <a:r>
              <a:rPr b="0" i="0" lang="en" sz="1100" u="none" strike="noStrike">
                <a:highlight>
                  <a:srgbClr val="FFFFFF"/>
                </a:highlight>
                <a:latin typeface="Arial"/>
                <a:ea typeface="Arial"/>
                <a:cs typeface="Arial"/>
                <a:sym typeface="Arial"/>
              </a:rPr>
              <a:t>A </a:t>
            </a:r>
            <a:r>
              <a:rPr lang="en" sz="1100">
                <a:highlight>
                  <a:srgbClr val="FFFFFF"/>
                </a:highlight>
                <a:latin typeface="Arial"/>
                <a:ea typeface="Arial"/>
                <a:cs typeface="Arial"/>
                <a:sym typeface="Arial"/>
              </a:rPr>
              <a:t>obj = new B(); </a:t>
            </a:r>
            <a:endParaRPr/>
          </a:p>
          <a:p>
            <a:pPr indent="0" lvl="0" marL="0" rtl="0" algn="l">
              <a:lnSpc>
                <a:spcPct val="90000"/>
              </a:lnSpc>
              <a:spcBef>
                <a:spcPts val="800"/>
              </a:spcBef>
              <a:spcAft>
                <a:spcPts val="0"/>
              </a:spcAft>
              <a:buClr>
                <a:schemeClr val="dk1"/>
              </a:buClr>
              <a:buSzPts val="1100"/>
              <a:buNone/>
            </a:pPr>
            <a:r>
              <a:rPr lang="en" sz="1100">
                <a:highlight>
                  <a:srgbClr val="FFFFFF"/>
                </a:highlight>
                <a:latin typeface="Arial"/>
                <a:ea typeface="Arial"/>
                <a:cs typeface="Arial"/>
                <a:sym typeface="Arial"/>
              </a:rPr>
              <a:t>//Here A is abstract class and B is the concrete sub class of A.</a:t>
            </a:r>
            <a:endParaRPr/>
          </a:p>
          <a:p>
            <a:pPr indent="-184150" lvl="0" marL="177800" rtl="0" algn="l">
              <a:lnSpc>
                <a:spcPct val="90000"/>
              </a:lnSpc>
              <a:spcBef>
                <a:spcPts val="800"/>
              </a:spcBef>
              <a:spcAft>
                <a:spcPts val="0"/>
              </a:spcAft>
              <a:buClr>
                <a:schemeClr val="dk1"/>
              </a:buClr>
              <a:buSzPts val="1100"/>
              <a:buChar char="•"/>
            </a:pPr>
            <a:r>
              <a:rPr b="0" i="0" lang="en" sz="1100" u="none" strike="noStrike">
                <a:latin typeface="Arial"/>
                <a:ea typeface="Arial"/>
                <a:cs typeface="Arial"/>
                <a:sym typeface="Arial"/>
              </a:rPr>
              <a:t>The child class should override all the abstract methods of parent else the child class should be declared with abstract keyword.</a:t>
            </a:r>
            <a:endParaRPr/>
          </a:p>
          <a:p>
            <a:pPr indent="0" lvl="0" marL="0" rtl="0" algn="l">
              <a:lnSpc>
                <a:spcPct val="90000"/>
              </a:lnSpc>
              <a:spcBef>
                <a:spcPts val="800"/>
              </a:spcBef>
              <a:spcAft>
                <a:spcPts val="0"/>
              </a:spcAft>
              <a:buClr>
                <a:schemeClr val="dk1"/>
              </a:buClr>
              <a:buSzPts val="1100"/>
              <a:buNone/>
            </a:pPr>
            <a:r>
              <a:t/>
            </a:r>
            <a:endParaRPr b="0" i="0" sz="1100" u="none" strike="noStrike">
              <a:latin typeface="Arial"/>
              <a:ea typeface="Arial"/>
              <a:cs typeface="Arial"/>
              <a:sym typeface="Arial"/>
            </a:endParaRPr>
          </a:p>
          <a:p>
            <a:pPr indent="0" lvl="0" marL="0" rtl="0" algn="l">
              <a:lnSpc>
                <a:spcPct val="90000"/>
              </a:lnSpc>
              <a:spcBef>
                <a:spcPts val="800"/>
              </a:spcBef>
              <a:spcAft>
                <a:spcPts val="0"/>
              </a:spcAft>
              <a:buClr>
                <a:schemeClr val="dk1"/>
              </a:buClr>
              <a:buSzPts val="1100"/>
              <a:buNone/>
            </a:pPr>
            <a:r>
              <a:t/>
            </a:r>
            <a:endParaRPr sz="1100">
              <a:latin typeface="Arial"/>
              <a:ea typeface="Arial"/>
              <a:cs typeface="Arial"/>
              <a:sym typeface="Arial"/>
            </a:endParaRPr>
          </a:p>
          <a:p>
            <a:pPr indent="-114300" lvl="0" marL="177800" rtl="0" algn="l">
              <a:lnSpc>
                <a:spcPct val="90000"/>
              </a:lnSpc>
              <a:spcBef>
                <a:spcPts val="800"/>
              </a:spcBef>
              <a:spcAft>
                <a:spcPts val="0"/>
              </a:spcAft>
              <a:buClr>
                <a:schemeClr val="dk1"/>
              </a:buClr>
              <a:buSzPts val="1100"/>
              <a:buNone/>
            </a:pPr>
            <a:r>
              <a:t/>
            </a:r>
            <a:endParaRPr sz="11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g37d739b2787_0_60"/>
          <p:cNvSpPr/>
          <p:nvPr/>
        </p:nvSpPr>
        <p:spPr>
          <a:xfrm>
            <a:off x="0" y="0"/>
            <a:ext cx="91419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 name="Google Shape;124;g37d739b2787_0_60"/>
          <p:cNvSpPr txBox="1"/>
          <p:nvPr>
            <p:ph type="title"/>
          </p:nvPr>
        </p:nvSpPr>
        <p:spPr>
          <a:xfrm>
            <a:off x="479161" y="342900"/>
            <a:ext cx="8182200" cy="10266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5000"/>
              <a:buFont typeface="Calibri"/>
              <a:buNone/>
            </a:pPr>
            <a:r>
              <a:rPr b="1" lang="en" sz="5000">
                <a:latin typeface="Calibri"/>
                <a:ea typeface="Calibri"/>
                <a:cs typeface="Calibri"/>
                <a:sym typeface="Calibri"/>
              </a:rPr>
              <a:t>Example:</a:t>
            </a:r>
            <a:endParaRPr/>
          </a:p>
        </p:txBody>
      </p:sp>
      <p:sp>
        <p:nvSpPr>
          <p:cNvPr id="125" name="Google Shape;125;g37d739b2787_0_60"/>
          <p:cNvSpPr/>
          <p:nvPr/>
        </p:nvSpPr>
        <p:spPr>
          <a:xfrm>
            <a:off x="3337560" y="1388012"/>
            <a:ext cx="2468880" cy="13716"/>
          </a:xfrm>
          <a:custGeom>
            <a:rect b="b" l="l" r="r" t="t"/>
            <a:pathLst>
              <a:path extrusionOk="0" fill="none" h="18288" w="329184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extrusionOk="0" h="18288" w="329184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cap="rnd" cmpd="sng" w="309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A screenshot of a computer program&#10;&#10;Description automatically generated" id="126" name="Google Shape;126;g37d739b2787_0_60"/>
          <p:cNvPicPr preferRelativeResize="0"/>
          <p:nvPr/>
        </p:nvPicPr>
        <p:blipFill rotWithShape="1">
          <a:blip r:embed="rId3">
            <a:alphaModFix/>
          </a:blip>
          <a:srcRect b="0" l="0" r="0" t="0"/>
          <a:stretch/>
        </p:blipFill>
        <p:spPr>
          <a:xfrm>
            <a:off x="536514" y="1635375"/>
            <a:ext cx="3617844" cy="3050926"/>
          </a:xfrm>
          <a:prstGeom prst="rect">
            <a:avLst/>
          </a:prstGeom>
          <a:noFill/>
          <a:ln>
            <a:noFill/>
          </a:ln>
        </p:spPr>
      </p:pic>
      <p:sp>
        <p:nvSpPr>
          <p:cNvPr id="127" name="Google Shape;127;g37d739b2787_0_60"/>
          <p:cNvSpPr txBox="1"/>
          <p:nvPr/>
        </p:nvSpPr>
        <p:spPr>
          <a:xfrm>
            <a:off x="4328720" y="4270802"/>
            <a:ext cx="42789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Output:</a:t>
            </a:r>
            <a:endParaRPr sz="1100"/>
          </a:p>
          <a:p>
            <a:pPr indent="0" lvl="0" marL="0" marR="0" rtl="0" algn="l">
              <a:spcBef>
                <a:spcPts val="0"/>
              </a:spcBef>
              <a:spcAft>
                <a:spcPts val="0"/>
              </a:spcAft>
              <a:buNone/>
            </a:pPr>
            <a:r>
              <a:rPr lang="en" sz="800">
                <a:solidFill>
                  <a:schemeClr val="dk1"/>
                </a:solidFill>
                <a:latin typeface="Arial"/>
                <a:ea typeface="Arial"/>
                <a:cs typeface="Arial"/>
                <a:sym typeface="Arial"/>
              </a:rPr>
              <a:t>Honda::Stop</a:t>
            </a:r>
            <a:endParaRPr sz="1100"/>
          </a:p>
          <a:p>
            <a:pPr indent="0" lvl="0" marL="0" marR="0" rtl="0" algn="l">
              <a:spcBef>
                <a:spcPts val="0"/>
              </a:spcBef>
              <a:spcAft>
                <a:spcPts val="0"/>
              </a:spcAft>
              <a:buNone/>
            </a:pPr>
            <a:r>
              <a:rPr lang="en" sz="800">
                <a:solidFill>
                  <a:schemeClr val="dk1"/>
                </a:solidFill>
                <a:latin typeface="Arial"/>
                <a:ea typeface="Arial"/>
                <a:cs typeface="Arial"/>
                <a:sym typeface="Arial"/>
              </a:rPr>
              <a:t>Mechanism to stop the car using break</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7d739b2787_0_68"/>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Abstract Class</a:t>
            </a:r>
            <a:endParaRPr/>
          </a:p>
        </p:txBody>
      </p:sp>
      <p:sp>
        <p:nvSpPr>
          <p:cNvPr id="133" name="Google Shape;133;g37d739b2787_0_68"/>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The compiler won’t let you instantiate an abstract class</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An abstract class has virtually* no use, no value, no purpose in life, unless it is extended</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An abstract method has no body!</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If you declare an abstract method, you MUST mark the class abstract as well. You can’t have an abstract method in a non-abstract class. </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You MUST implement all abstract methods in the first concrete class. Implementing an abstract method is just like overriding a method.</a:t>
            </a:r>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7d739b2787_0_73"/>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Interface</a:t>
            </a:r>
            <a:endParaRPr/>
          </a:p>
        </p:txBody>
      </p:sp>
      <p:sp>
        <p:nvSpPr>
          <p:cNvPr id="139" name="Google Shape;139;g37d739b2787_0_73"/>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A Java interface is like a 100% pure abstract class.</a:t>
            </a:r>
            <a:endParaRPr sz="1500">
              <a:latin typeface="Arial"/>
              <a:ea typeface="Arial"/>
              <a:cs typeface="Arial"/>
              <a:sym typeface="Arial"/>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Define an interface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Implement an interface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Classes from different inheritance trees can implement the same interface.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A class that implements an interface must implement all the methods of the interface, since all interface methods are implicitly public and abstract</a:t>
            </a:r>
            <a:endParaRPr sz="1500">
              <a:latin typeface="Arial"/>
              <a:ea typeface="Arial"/>
              <a:cs typeface="Arial"/>
              <a:sym typeface="Arial"/>
            </a:endParaRPr>
          </a:p>
          <a:p>
            <a:pPr indent="-171450" lvl="0" marL="177800" rtl="0" algn="l">
              <a:lnSpc>
                <a:spcPct val="90000"/>
              </a:lnSpc>
              <a:spcBef>
                <a:spcPts val="800"/>
              </a:spcBef>
              <a:spcAft>
                <a:spcPts val="0"/>
              </a:spcAft>
              <a:buSzPts val="1500"/>
              <a:buChar char="●"/>
            </a:pPr>
            <a:r>
              <a:rPr lang="en" sz="1500"/>
              <a:t>Default methods</a:t>
            </a:r>
            <a:endParaRPr sz="1500"/>
          </a:p>
          <a:p>
            <a:pPr indent="-171450" lvl="0" marL="177800" rtl="0" algn="l">
              <a:lnSpc>
                <a:spcPct val="90000"/>
              </a:lnSpc>
              <a:spcBef>
                <a:spcPts val="800"/>
              </a:spcBef>
              <a:spcAft>
                <a:spcPts val="0"/>
              </a:spcAft>
              <a:buSzPts val="1500"/>
              <a:buChar char="●"/>
            </a:pPr>
            <a:r>
              <a:rPr lang="en" sz="1500"/>
              <a:t>Static methods</a:t>
            </a:r>
            <a:endParaRPr sz="1500"/>
          </a:p>
          <a:p>
            <a:pPr indent="-171450" lvl="0" marL="177800" rtl="0" algn="l">
              <a:lnSpc>
                <a:spcPct val="90000"/>
              </a:lnSpc>
              <a:spcBef>
                <a:spcPts val="800"/>
              </a:spcBef>
              <a:spcAft>
                <a:spcPts val="0"/>
              </a:spcAft>
              <a:buSzPts val="1500"/>
              <a:buChar char="●"/>
            </a:pPr>
            <a:r>
              <a:rPr lang="en" sz="1500"/>
              <a:t>Private methods</a:t>
            </a:r>
            <a:endParaRPr sz="1500"/>
          </a:p>
          <a:p>
            <a:pPr indent="0" lvl="0" marL="177800" rtl="0" algn="l">
              <a:lnSpc>
                <a:spcPct val="90000"/>
              </a:lnSpc>
              <a:spcBef>
                <a:spcPts val="800"/>
              </a:spcBef>
              <a:spcAft>
                <a:spcPts val="0"/>
              </a:spcAft>
              <a:buNone/>
            </a:pPr>
            <a:r>
              <a:t/>
            </a:r>
            <a:endParaRPr sz="1500"/>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d739b2787_0_78"/>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Object Class important methods</a:t>
            </a:r>
            <a:endParaRPr/>
          </a:p>
        </p:txBody>
      </p:sp>
      <p:sp>
        <p:nvSpPr>
          <p:cNvPr id="145" name="Google Shape;145;g37d739b2787_0_78"/>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equals(Object o)</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getClass()</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hashCode()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toString()</a:t>
            </a:r>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g37d739b2787_0_83"/>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2" name="Google Shape;152;g37d739b2787_0_83"/>
          <p:cNvSpPr txBox="1"/>
          <p:nvPr>
            <p:ph type="title"/>
          </p:nvPr>
        </p:nvSpPr>
        <p:spPr>
          <a:xfrm>
            <a:off x="473202" y="480060"/>
            <a:ext cx="3614100" cy="11112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Calibri"/>
              <a:buNone/>
            </a:pPr>
            <a:r>
              <a:rPr b="1" lang="en" sz="4100">
                <a:latin typeface="Calibri"/>
                <a:ea typeface="Calibri"/>
                <a:cs typeface="Calibri"/>
                <a:sym typeface="Calibri"/>
              </a:rPr>
              <a:t>Polymorphism</a:t>
            </a:r>
            <a:endParaRPr/>
          </a:p>
        </p:txBody>
      </p:sp>
      <p:sp>
        <p:nvSpPr>
          <p:cNvPr id="153" name="Google Shape;153;g37d739b2787_0_83"/>
          <p:cNvSpPr/>
          <p:nvPr/>
        </p:nvSpPr>
        <p:spPr>
          <a:xfrm>
            <a:off x="482459" y="1779651"/>
            <a:ext cx="2441321" cy="13716"/>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28575">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4" name="Google Shape;154;g37d739b2787_0_83"/>
          <p:cNvSpPr txBox="1"/>
          <p:nvPr>
            <p:ph idx="1" type="body"/>
          </p:nvPr>
        </p:nvSpPr>
        <p:spPr>
          <a:xfrm>
            <a:off x="473201" y="1995678"/>
            <a:ext cx="4417200" cy="2872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200"/>
              <a:buNone/>
            </a:pPr>
            <a:r>
              <a:rPr b="0" i="0" lang="en" sz="1200" u="none" strike="noStrike">
                <a:highlight>
                  <a:srgbClr val="FFFFFF"/>
                </a:highlight>
              </a:rPr>
              <a:t>Polymorphism refers to many forms, or it is a process that performs a single action in different ways. It occurs when we have many classes related to each other by inheritance.</a:t>
            </a:r>
            <a:endParaRPr/>
          </a:p>
          <a:p>
            <a:pPr indent="0" lvl="0" marL="0" rtl="0" algn="l">
              <a:lnSpc>
                <a:spcPct val="90000"/>
              </a:lnSpc>
              <a:spcBef>
                <a:spcPts val="800"/>
              </a:spcBef>
              <a:spcAft>
                <a:spcPts val="0"/>
              </a:spcAft>
              <a:buClr>
                <a:schemeClr val="dk1"/>
              </a:buClr>
              <a:buSzPts val="1200"/>
              <a:buNone/>
            </a:pPr>
            <a:r>
              <a:rPr b="0" i="0" lang="en" sz="1200" u="none" strike="noStrike"/>
              <a:t>There are two types of polymorphism as listed below:</a:t>
            </a:r>
            <a:endParaRPr/>
          </a:p>
          <a:p>
            <a:pPr indent="-177800" lvl="0" marL="177800" rtl="0" algn="l">
              <a:lnSpc>
                <a:spcPct val="90000"/>
              </a:lnSpc>
              <a:spcBef>
                <a:spcPts val="800"/>
              </a:spcBef>
              <a:spcAft>
                <a:spcPts val="0"/>
              </a:spcAft>
              <a:buClr>
                <a:schemeClr val="dk1"/>
              </a:buClr>
              <a:buSzPts val="1200"/>
              <a:buFont typeface="Play"/>
              <a:buAutoNum type="arabicPeriod"/>
            </a:pPr>
            <a:r>
              <a:rPr b="0" i="0" lang="en" sz="1200" u="none" strike="noStrike"/>
              <a:t>Static or Compile-time Polymorphism</a:t>
            </a:r>
            <a:endParaRPr/>
          </a:p>
          <a:p>
            <a:pPr indent="-177800" lvl="0" marL="177800" rtl="0" algn="l">
              <a:lnSpc>
                <a:spcPct val="90000"/>
              </a:lnSpc>
              <a:spcBef>
                <a:spcPts val="800"/>
              </a:spcBef>
              <a:spcAft>
                <a:spcPts val="0"/>
              </a:spcAft>
              <a:buClr>
                <a:schemeClr val="dk1"/>
              </a:buClr>
              <a:buSzPts val="1200"/>
              <a:buFont typeface="Play"/>
              <a:buAutoNum type="arabicPeriod"/>
            </a:pPr>
            <a:r>
              <a:rPr b="0" i="0" lang="en" sz="1200" u="none" strike="noStrike"/>
              <a:t>Dynamic or Run-time Polymorphism</a:t>
            </a:r>
            <a:endParaRPr/>
          </a:p>
          <a:p>
            <a:pPr indent="0" lvl="0" marL="0" rtl="0" algn="l">
              <a:lnSpc>
                <a:spcPct val="90000"/>
              </a:lnSpc>
              <a:spcBef>
                <a:spcPts val="800"/>
              </a:spcBef>
              <a:spcAft>
                <a:spcPts val="0"/>
              </a:spcAft>
              <a:buClr>
                <a:schemeClr val="dk1"/>
              </a:buClr>
              <a:buSzPts val="1200"/>
              <a:buNone/>
            </a:pPr>
            <a:r>
              <a:rPr b="1" i="0" lang="en" sz="1200" u="none" strike="noStrike"/>
              <a:t>Static or Compile-time Polymorphism </a:t>
            </a:r>
            <a:r>
              <a:rPr b="0" i="0" lang="en" sz="1200" u="none" strike="noStrike"/>
              <a:t>when the compiler is able to determine the actual function, it’s called </a:t>
            </a:r>
            <a:r>
              <a:rPr b="1" i="0" lang="en" sz="1200" u="none" strike="noStrike"/>
              <a:t>compile-time</a:t>
            </a:r>
            <a:r>
              <a:rPr b="0" i="0" lang="en" sz="1200" u="none" strike="noStrike"/>
              <a:t> polymorphism. Compile-time polymorphism can be achieved by </a:t>
            </a:r>
            <a:r>
              <a:rPr b="1" i="0" lang="en" sz="1200" u="none" strike="noStrike"/>
              <a:t>method overloading</a:t>
            </a:r>
            <a:r>
              <a:rPr b="0" i="0" lang="en" sz="1200" u="none" strike="noStrike"/>
              <a:t> in java. </a:t>
            </a:r>
            <a:r>
              <a:rPr b="0" i="0" lang="en" sz="1200" u="none" strike="noStrike">
                <a:highlight>
                  <a:srgbClr val="FFFFFF"/>
                </a:highlight>
              </a:rPr>
              <a:t>When different functions in a class have the same name but different signatures, it’s called method overloading. A method signature contains the name and method arguments. So, overloaded methods have different arguments. The arguments might differ in the numbers or the type of arguments.</a:t>
            </a:r>
            <a:endParaRPr/>
          </a:p>
          <a:p>
            <a:pPr indent="0" lvl="0" marL="0" rtl="0" algn="l">
              <a:lnSpc>
                <a:spcPct val="90000"/>
              </a:lnSpc>
              <a:spcBef>
                <a:spcPts val="800"/>
              </a:spcBef>
              <a:spcAft>
                <a:spcPts val="0"/>
              </a:spcAft>
              <a:buClr>
                <a:schemeClr val="dk1"/>
              </a:buClr>
              <a:buSzPts val="1200"/>
              <a:buNone/>
            </a:pPr>
            <a:r>
              <a:t/>
            </a:r>
            <a:endParaRPr sz="1200">
              <a:highlight>
                <a:srgbClr val="FFFFFF"/>
              </a:highlight>
            </a:endParaRPr>
          </a:p>
          <a:p>
            <a:pPr indent="0" lvl="0" marL="0" rtl="0" algn="l">
              <a:lnSpc>
                <a:spcPct val="90000"/>
              </a:lnSpc>
              <a:spcBef>
                <a:spcPts val="800"/>
              </a:spcBef>
              <a:spcAft>
                <a:spcPts val="0"/>
              </a:spcAft>
              <a:buClr>
                <a:schemeClr val="dk1"/>
              </a:buClr>
              <a:buSzPts val="1200"/>
              <a:buNone/>
            </a:pPr>
            <a:r>
              <a:t/>
            </a:r>
            <a:endParaRPr b="0" i="0" sz="1200" u="none" strike="noStrike">
              <a:highlight>
                <a:srgbClr val="FFFFFF"/>
              </a:highlight>
            </a:endParaRPr>
          </a:p>
          <a:p>
            <a:pPr indent="0" lvl="0" marL="0" rtl="0" algn="l">
              <a:lnSpc>
                <a:spcPct val="90000"/>
              </a:lnSpc>
              <a:spcBef>
                <a:spcPts val="800"/>
              </a:spcBef>
              <a:spcAft>
                <a:spcPts val="0"/>
              </a:spcAft>
              <a:buClr>
                <a:schemeClr val="dk1"/>
              </a:buClr>
              <a:buSzPts val="1200"/>
              <a:buNone/>
            </a:pPr>
            <a:r>
              <a:t/>
            </a:r>
            <a:endParaRPr b="0" i="0" sz="1200" u="none" strike="noStrike"/>
          </a:p>
          <a:p>
            <a:pPr indent="0" lvl="0" marL="0" rtl="0" algn="l">
              <a:lnSpc>
                <a:spcPct val="90000"/>
              </a:lnSpc>
              <a:spcBef>
                <a:spcPts val="800"/>
              </a:spcBef>
              <a:spcAft>
                <a:spcPts val="0"/>
              </a:spcAft>
              <a:buClr>
                <a:schemeClr val="dk1"/>
              </a:buClr>
              <a:buSzPts val="1200"/>
              <a:buNone/>
            </a:pPr>
            <a:r>
              <a:t/>
            </a:r>
            <a:endParaRPr sz="1200"/>
          </a:p>
        </p:txBody>
      </p:sp>
      <p:sp>
        <p:nvSpPr>
          <p:cNvPr id="155" name="Google Shape;155;g37d739b2787_0_83"/>
          <p:cNvSpPr txBox="1"/>
          <p:nvPr/>
        </p:nvSpPr>
        <p:spPr>
          <a:xfrm>
            <a:off x="5142949" y="3633107"/>
            <a:ext cx="21138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900">
                <a:solidFill>
                  <a:schemeClr val="dk1"/>
                </a:solidFill>
                <a:latin typeface="Arial"/>
                <a:ea typeface="Arial"/>
                <a:cs typeface="Arial"/>
                <a:sym typeface="Arial"/>
              </a:rPr>
              <a:t>Compile Time or Static Polymorphism</a:t>
            </a:r>
            <a:endParaRPr sz="1100"/>
          </a:p>
        </p:txBody>
      </p:sp>
      <p:pic>
        <p:nvPicPr>
          <p:cNvPr descr="A screenshot of a computer&#10;&#10;Description automatically generated" id="156" name="Google Shape;156;g37d739b2787_0_83"/>
          <p:cNvPicPr preferRelativeResize="0"/>
          <p:nvPr/>
        </p:nvPicPr>
        <p:blipFill rotWithShape="1">
          <a:blip r:embed="rId3">
            <a:alphaModFix/>
          </a:blip>
          <a:srcRect b="0" l="0" r="0" t="0"/>
          <a:stretch/>
        </p:blipFill>
        <p:spPr>
          <a:xfrm>
            <a:off x="5188288" y="337148"/>
            <a:ext cx="2854792" cy="3241721"/>
          </a:xfrm>
          <a:prstGeom prst="rect">
            <a:avLst/>
          </a:prstGeom>
          <a:noFill/>
          <a:ln>
            <a:noFill/>
          </a:ln>
        </p:spPr>
      </p:pic>
      <p:pic>
        <p:nvPicPr>
          <p:cNvPr descr="A close-up of a number&#10;&#10;Description automatically generated" id="157" name="Google Shape;157;g37d739b2787_0_83"/>
          <p:cNvPicPr preferRelativeResize="0"/>
          <p:nvPr/>
        </p:nvPicPr>
        <p:blipFill rotWithShape="1">
          <a:blip r:embed="rId4">
            <a:alphaModFix/>
          </a:blip>
          <a:srcRect b="0" l="0" r="0" t="0"/>
          <a:stretch/>
        </p:blipFill>
        <p:spPr>
          <a:xfrm>
            <a:off x="5188288" y="3840857"/>
            <a:ext cx="2854792" cy="5130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g37d739b2787_0_94"/>
          <p:cNvSpPr/>
          <p:nvPr/>
        </p:nvSpPr>
        <p:spPr>
          <a:xfrm>
            <a:off x="0" y="0"/>
            <a:ext cx="91419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3" name="Google Shape;163;g37d739b2787_0_94"/>
          <p:cNvSpPr txBox="1"/>
          <p:nvPr>
            <p:ph type="title"/>
          </p:nvPr>
        </p:nvSpPr>
        <p:spPr>
          <a:xfrm>
            <a:off x="480060" y="246888"/>
            <a:ext cx="5171100" cy="13374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4100"/>
              <a:buFont typeface="Calibri"/>
              <a:buNone/>
            </a:pPr>
            <a:r>
              <a:rPr b="1" lang="en" sz="4100">
                <a:latin typeface="Calibri"/>
                <a:ea typeface="Calibri"/>
                <a:cs typeface="Calibri"/>
                <a:sym typeface="Calibri"/>
              </a:rPr>
              <a:t>Polymorphism</a:t>
            </a:r>
            <a:endParaRPr/>
          </a:p>
        </p:txBody>
      </p:sp>
      <p:sp>
        <p:nvSpPr>
          <p:cNvPr id="164" name="Google Shape;164;g37d739b2787_0_94"/>
          <p:cNvSpPr/>
          <p:nvPr/>
        </p:nvSpPr>
        <p:spPr>
          <a:xfrm>
            <a:off x="569214" y="1796796"/>
            <a:ext cx="3182692" cy="13716"/>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309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5" name="Google Shape;165;g37d739b2787_0_94"/>
          <p:cNvSpPr txBox="1"/>
          <p:nvPr>
            <p:ph idx="1" type="body"/>
          </p:nvPr>
        </p:nvSpPr>
        <p:spPr>
          <a:xfrm>
            <a:off x="480060" y="2029968"/>
            <a:ext cx="5171100" cy="26130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700"/>
              <a:buNone/>
            </a:pPr>
            <a:r>
              <a:rPr b="1" i="0" lang="en" sz="1700" u="none" strike="noStrike"/>
              <a:t>Dynamic or Run-time Polymorphism occurs w</a:t>
            </a:r>
            <a:r>
              <a:rPr b="0" i="0" lang="en" sz="1700" u="none" strike="noStrike"/>
              <a:t>hen the compiler is not able to determine whether it’s superclass method or sub-class method it’s called </a:t>
            </a:r>
            <a:r>
              <a:rPr b="1" i="0" lang="en" sz="1700" u="none" strike="noStrike"/>
              <a:t>run-time </a:t>
            </a:r>
            <a:r>
              <a:rPr b="0" i="0" lang="en" sz="1700" u="none" strike="noStrike"/>
              <a:t>polymorphism. The run-time polymorphism is achieved by </a:t>
            </a:r>
            <a:r>
              <a:rPr b="1" i="0" lang="en" sz="1700" u="none" strike="noStrike"/>
              <a:t>method overriding</a:t>
            </a:r>
            <a:r>
              <a:rPr b="0" i="0" lang="en" sz="1700" u="none" strike="noStrike"/>
              <a:t>. When the superclass method is overridden in the subclass, it’s called method overriding.</a:t>
            </a:r>
            <a:endParaRPr sz="1700"/>
          </a:p>
        </p:txBody>
      </p:sp>
      <p:pic>
        <p:nvPicPr>
          <p:cNvPr descr="A screenshot of a computer program&#10;&#10;Description automatically generated" id="166" name="Google Shape;166;g37d739b2787_0_94"/>
          <p:cNvPicPr preferRelativeResize="0"/>
          <p:nvPr/>
        </p:nvPicPr>
        <p:blipFill rotWithShape="1">
          <a:blip r:embed="rId3">
            <a:alphaModFix/>
          </a:blip>
          <a:srcRect b="0" l="0" r="0" t="0"/>
          <a:stretch/>
        </p:blipFill>
        <p:spPr>
          <a:xfrm>
            <a:off x="5898547" y="1083386"/>
            <a:ext cx="2869488" cy="2681104"/>
          </a:xfrm>
          <a:prstGeom prst="rect">
            <a:avLst/>
          </a:prstGeom>
          <a:noFill/>
          <a:ln>
            <a:noFill/>
          </a:ln>
        </p:spPr>
      </p:pic>
      <p:pic>
        <p:nvPicPr>
          <p:cNvPr id="167" name="Google Shape;167;g37d739b2787_0_94"/>
          <p:cNvPicPr preferRelativeResize="0"/>
          <p:nvPr/>
        </p:nvPicPr>
        <p:blipFill rotWithShape="1">
          <a:blip r:embed="rId4">
            <a:alphaModFix/>
          </a:blip>
          <a:srcRect b="0" l="0" r="0" t="0"/>
          <a:stretch/>
        </p:blipFill>
        <p:spPr>
          <a:xfrm>
            <a:off x="5898546" y="3958695"/>
            <a:ext cx="2869487" cy="36893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