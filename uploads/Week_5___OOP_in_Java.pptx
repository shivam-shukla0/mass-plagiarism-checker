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im3oW9j+y+SmfNDkwTKHjpzKT0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Mono-bold.fntdata"/><Relationship Id="rId21" Type="http://schemas.openxmlformats.org/officeDocument/2006/relationships/font" Target="fonts/RobotoMono-regular.fntdata"/><Relationship Id="rId24" Type="http://schemas.openxmlformats.org/officeDocument/2006/relationships/font" Target="fonts/RobotoMono-boldItalic.fntdata"/><Relationship Id="rId23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a92fcdd48_0_1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8a92fcdd48_0_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a92fcdd48_0_1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8a92fcdd48_0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a92fcdd48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a92fcdd48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8a92fcdd48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a92fcdd48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a92fcdd48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8a92fcdd48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a92fcdd48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a92fcdd48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8a92fcdd48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a92fcdd48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a92fcdd48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8a92fcdd48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a92fcdd48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a92fcdd48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8a92fcdd48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a92fcdd48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a92fcdd48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8a92fcdd48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a92fcdd48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a92fcdd48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8a92fcdd48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a92fcdd48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a92fcdd48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8a92fcdd48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a92fcdd48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a92fcdd48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8a92fcdd48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a92fcdd48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a92fcdd48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8a92fcdd48_0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a92fcdd48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a92fcdd48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8a92fcdd48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a92fcdd48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a92fcdd48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8a92fcdd48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7d739b2787_0_17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g37d739b2787_0_17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g37d739b2787_0_17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g37d739b2787_0_17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g37d739b2787_0_17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Object Oriented Programming In Java</a:t>
            </a:r>
            <a:endParaRPr/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311700" y="2834125"/>
            <a:ext cx="85206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"/>
              <a:t>Saurabh Pandey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"/>
              <a:t>Associate Professor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"/>
              <a:t>Sitare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a92fcdd48_0_152"/>
          <p:cNvSpPr txBox="1"/>
          <p:nvPr>
            <p:ph type="title"/>
          </p:nvPr>
        </p:nvSpPr>
        <p:spPr>
          <a:xfrm>
            <a:off x="628650" y="273844"/>
            <a:ext cx="77781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Stack and Heap memory areas </a:t>
            </a:r>
            <a:endParaRPr/>
          </a:p>
        </p:txBody>
      </p:sp>
      <p:sp>
        <p:nvSpPr>
          <p:cNvPr id="67" name="Google Shape;67;g38a92fcdd48_0_152"/>
          <p:cNvSpPr txBox="1"/>
          <p:nvPr>
            <p:ph idx="1" type="body"/>
          </p:nvPr>
        </p:nvSpPr>
        <p:spPr>
          <a:xfrm>
            <a:off x="628650" y="811161"/>
            <a:ext cx="7886700" cy="3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Java has two areas of memory we care about: the Stack and the Heap. 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Instance variables are variables declared inside a class but outside any method. 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Local variables are variables declared inside a method or method parameter. 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All local variables live on the stack, in the frame corresponding to the method where the variables are declared. 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Object reference variables work just like primitive variables—if the reference is declared as a local variable, it goes on the stack. 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All objects live in the heap, regardless of whether the reference is a local or instance variable.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a92fcdd48_0_157"/>
          <p:cNvSpPr txBox="1"/>
          <p:nvPr>
            <p:ph type="title"/>
          </p:nvPr>
        </p:nvSpPr>
        <p:spPr>
          <a:xfrm>
            <a:off x="628650" y="273844"/>
            <a:ext cx="77781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Constructors</a:t>
            </a:r>
            <a:endParaRPr/>
          </a:p>
        </p:txBody>
      </p:sp>
      <p:sp>
        <p:nvSpPr>
          <p:cNvPr id="73" name="Google Shape;73;g38a92fcdd48_0_157"/>
          <p:cNvSpPr txBox="1"/>
          <p:nvPr>
            <p:ph idx="1" type="body"/>
          </p:nvPr>
        </p:nvSpPr>
        <p:spPr>
          <a:xfrm>
            <a:off x="628650" y="811161"/>
            <a:ext cx="7886700" cy="3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 constructor has the code that runs when you instantiate an object. In other words, the code that runs when you say new on a class type. Every class you create has a constructor, even if you don’t write it yourself.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If you have more than one constructor in a class, it means you have overloaded constructors.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If you write a constructor that takes arguments, and you still want a no-arg constructor, you’ll have to build the no-arg constructor yourself!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If you have more than one constructor in a class, the constructors MUST have different argument lists. 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Constructors can be public, protected, private, or default (which means no access modifier at all).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All the constructors in an object’s inheritance tree must run when you make a new object.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//Show code example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 compiler puts in a call to super() if you don’t provide in subclass constructor.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 call to super() must be the first statement in each constructor</a:t>
            </a:r>
            <a:endParaRPr/>
          </a:p>
          <a:p>
            <a:pPr indent="-889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889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a92fcdd48_0_5"/>
          <p:cNvSpPr txBox="1"/>
          <p:nvPr>
            <p:ph type="title"/>
          </p:nvPr>
        </p:nvSpPr>
        <p:spPr>
          <a:xfrm>
            <a:off x="628650" y="273844"/>
            <a:ext cx="7886700" cy="647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Strings and String APIs in Java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8a92fcdd48_0_5"/>
          <p:cNvSpPr txBox="1"/>
          <p:nvPr>
            <p:ph idx="1" type="body"/>
          </p:nvPr>
        </p:nvSpPr>
        <p:spPr>
          <a:xfrm>
            <a:off x="628650" y="921394"/>
            <a:ext cx="7886700" cy="371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-260350" lvl="0" marL="342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String basics</a:t>
            </a:r>
            <a:br>
              <a:rPr lang="en" sz="1500"/>
            </a:br>
            <a:endParaRPr sz="1500"/>
          </a:p>
          <a:p>
            <a:pPr indent="-2603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String Pool</a:t>
            </a:r>
            <a:br>
              <a:rPr lang="en" sz="1500"/>
            </a:br>
            <a:endParaRPr sz="1500"/>
          </a:p>
          <a:p>
            <a:pPr indent="-2603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Common APIs</a:t>
            </a:r>
            <a:br>
              <a:rPr lang="en" sz="1500"/>
            </a:br>
            <a:endParaRPr sz="1500"/>
          </a:p>
          <a:p>
            <a:pPr indent="-2603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Best practices</a:t>
            </a:r>
            <a:endParaRPr sz="15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a92fcdd48_0_11"/>
          <p:cNvSpPr txBox="1"/>
          <p:nvPr>
            <p:ph type="title"/>
          </p:nvPr>
        </p:nvSpPr>
        <p:spPr>
          <a:xfrm>
            <a:off x="628650" y="273844"/>
            <a:ext cx="7886700" cy="647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What is a String?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8a92fcdd48_0_11"/>
          <p:cNvSpPr txBox="1"/>
          <p:nvPr>
            <p:ph idx="1" type="body"/>
          </p:nvPr>
        </p:nvSpPr>
        <p:spPr>
          <a:xfrm>
            <a:off x="628650" y="814050"/>
            <a:ext cx="7886700" cy="371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3429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 </a:t>
            </a:r>
            <a:r>
              <a:rPr b="1" lang="en" sz="1400"/>
              <a:t>sequence of characters</a:t>
            </a:r>
            <a:r>
              <a:rPr lang="en" sz="1400"/>
              <a:t>.</a:t>
            </a:r>
            <a:br>
              <a:rPr lang="en" sz="1400"/>
            </a:br>
            <a:endParaRPr sz="1400"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 Java: implemented as an </a:t>
            </a:r>
            <a:r>
              <a:rPr b="1" lang="en" sz="1400"/>
              <a:t>immutable object</a:t>
            </a:r>
            <a:r>
              <a:rPr lang="en" sz="1400"/>
              <a:t>.</a:t>
            </a:r>
            <a:br>
              <a:rPr lang="en" sz="1400"/>
            </a:br>
            <a:endParaRPr sz="1400"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Stored in </a:t>
            </a:r>
            <a:r>
              <a:rPr b="1" lang="en" sz="1400"/>
              <a:t>String Pool</a:t>
            </a:r>
            <a:r>
              <a:rPr lang="en" sz="1400"/>
              <a:t> when created using string literals.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Example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String name = "Alice"; // in String pool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String city = new String("Paris"); // new object in heap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a92fcdd48_0_17"/>
          <p:cNvSpPr txBox="1"/>
          <p:nvPr>
            <p:ph type="title"/>
          </p:nvPr>
        </p:nvSpPr>
        <p:spPr>
          <a:xfrm>
            <a:off x="628650" y="273844"/>
            <a:ext cx="7886700" cy="647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String Pool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8a92fcdd48_0_17"/>
          <p:cNvSpPr txBox="1"/>
          <p:nvPr>
            <p:ph idx="1" type="body"/>
          </p:nvPr>
        </p:nvSpPr>
        <p:spPr>
          <a:xfrm>
            <a:off x="628650" y="921394"/>
            <a:ext cx="7886700" cy="371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-254000" lvl="0" marL="3429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Special memory area inside the </a:t>
            </a:r>
            <a:r>
              <a:rPr b="1" lang="en" sz="1400"/>
              <a:t>Java Heap</a:t>
            </a:r>
            <a:r>
              <a:rPr lang="en" sz="1400"/>
              <a:t>.</a:t>
            </a:r>
            <a:br>
              <a:rPr lang="en" sz="1400"/>
            </a:br>
            <a:endParaRPr sz="1400"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Stores </a:t>
            </a:r>
            <a:r>
              <a:rPr b="1" lang="en" sz="1400"/>
              <a:t>unique string literals</a:t>
            </a:r>
            <a:r>
              <a:rPr lang="en" sz="1400"/>
              <a:t>.</a:t>
            </a:r>
            <a:br>
              <a:rPr lang="en" sz="1400"/>
            </a:br>
            <a:endParaRPr sz="1400"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Helps in </a:t>
            </a:r>
            <a:r>
              <a:rPr b="1" lang="en" sz="1400"/>
              <a:t>memory optimization</a:t>
            </a:r>
            <a:r>
              <a:rPr lang="en" sz="1400"/>
              <a:t>.</a:t>
            </a:r>
            <a:br>
              <a:rPr lang="en" sz="1400"/>
            </a:br>
            <a:endParaRPr sz="1400"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Reuses already created strings instead of duplicating.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String a = "Java";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String b = "Java";       // points to same object in pool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System.out.println(a == b); // true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String c = new String("Java");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System.out.println(a == c); // false (different object)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a92fcdd48_0_23"/>
          <p:cNvSpPr txBox="1"/>
          <p:nvPr>
            <p:ph type="title"/>
          </p:nvPr>
        </p:nvSpPr>
        <p:spPr>
          <a:xfrm>
            <a:off x="628650" y="273844"/>
            <a:ext cx="7886700" cy="647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Immutability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8a92fcdd48_0_23"/>
          <p:cNvSpPr txBox="1"/>
          <p:nvPr>
            <p:ph idx="1" type="body"/>
          </p:nvPr>
        </p:nvSpPr>
        <p:spPr>
          <a:xfrm>
            <a:off x="628650" y="921394"/>
            <a:ext cx="7886700" cy="371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3429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Strings are </a:t>
            </a:r>
            <a:r>
              <a:rPr b="1" lang="en" sz="1400"/>
              <a:t>immutable</a:t>
            </a:r>
            <a:r>
              <a:rPr lang="en" sz="1400"/>
              <a:t>.</a:t>
            </a:r>
            <a:br>
              <a:rPr lang="en" sz="1400"/>
            </a:br>
            <a:endParaRPr sz="1400"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Any modification creates a </a:t>
            </a:r>
            <a:r>
              <a:rPr b="1" lang="en" sz="1400"/>
              <a:t>new object</a:t>
            </a:r>
            <a:r>
              <a:rPr lang="en" sz="1400"/>
              <a:t>.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Ex: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String s = "Hello";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s.concat(" World");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System.out.println(s); // "Hello"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Benefits: Thread-safety, caching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Drawback: Expensive for repeated modifications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a92fcdd48_0_29"/>
          <p:cNvSpPr txBox="1"/>
          <p:nvPr>
            <p:ph type="title"/>
          </p:nvPr>
        </p:nvSpPr>
        <p:spPr>
          <a:xfrm>
            <a:off x="628650" y="273844"/>
            <a:ext cx="7886700" cy="647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String Creation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8a92fcdd48_0_29"/>
          <p:cNvSpPr txBox="1"/>
          <p:nvPr>
            <p:ph idx="1" type="body"/>
          </p:nvPr>
        </p:nvSpPr>
        <p:spPr>
          <a:xfrm>
            <a:off x="628650" y="921394"/>
            <a:ext cx="7886700" cy="371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Literal (uses pool): </a:t>
            </a:r>
            <a:endParaRPr b="1"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String str1 = "Java";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Using new (heap):</a:t>
            </a:r>
            <a:endParaRPr b="1"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String str2 = new String("Java");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From char array:</a:t>
            </a:r>
            <a:endParaRPr b="1"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char[] arr = {'J','a','v','a'};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String str3 = new String(arr);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a92fcdd48_0_35"/>
          <p:cNvSpPr txBox="1"/>
          <p:nvPr>
            <p:ph type="title"/>
          </p:nvPr>
        </p:nvSpPr>
        <p:spPr>
          <a:xfrm>
            <a:off x="628650" y="273844"/>
            <a:ext cx="7886700" cy="647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Common String APIs – Inspection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8a92fcdd48_0_35"/>
          <p:cNvSpPr txBox="1"/>
          <p:nvPr>
            <p:ph idx="1" type="body"/>
          </p:nvPr>
        </p:nvSpPr>
        <p:spPr>
          <a:xfrm>
            <a:off x="628650" y="921394"/>
            <a:ext cx="7886700" cy="371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int len = str.length();      // length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char c = str.charAt(2);      // get char at index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boolean empty = str.isEmpty();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a92fcdd48_0_41"/>
          <p:cNvSpPr txBox="1"/>
          <p:nvPr>
            <p:ph type="title"/>
          </p:nvPr>
        </p:nvSpPr>
        <p:spPr>
          <a:xfrm>
            <a:off x="628650" y="273844"/>
            <a:ext cx="7886700" cy="647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Common String APIs – Comparison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8a92fcdd48_0_41"/>
          <p:cNvSpPr txBox="1"/>
          <p:nvPr>
            <p:ph idx="1" type="body"/>
          </p:nvPr>
        </p:nvSpPr>
        <p:spPr>
          <a:xfrm>
            <a:off x="628650" y="921394"/>
            <a:ext cx="7886700" cy="371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str.equals("Java");       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str.equalsIgnoreCase("java");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str.compareTo("Python"); 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a92fcdd48_0_47"/>
          <p:cNvSpPr txBox="1"/>
          <p:nvPr>
            <p:ph type="title"/>
          </p:nvPr>
        </p:nvSpPr>
        <p:spPr>
          <a:xfrm>
            <a:off x="628650" y="273844"/>
            <a:ext cx="7886700" cy="647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Common String APIs – Modification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8a92fcdd48_0_47"/>
          <p:cNvSpPr txBox="1"/>
          <p:nvPr>
            <p:ph idx="1" type="body"/>
          </p:nvPr>
        </p:nvSpPr>
        <p:spPr>
          <a:xfrm>
            <a:off x="628650" y="921394"/>
            <a:ext cx="7886700" cy="371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str.toUpperCase(); 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str.toLowerCase(); 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str.trim();        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str.replace("a", "@");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str.substring(1, 3);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a92fcdd48_0_53"/>
          <p:cNvSpPr txBox="1"/>
          <p:nvPr>
            <p:ph type="title"/>
          </p:nvPr>
        </p:nvSpPr>
        <p:spPr>
          <a:xfrm>
            <a:off x="628650" y="273844"/>
            <a:ext cx="7886700" cy="647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Common String APIs – Searching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8a92fcdd48_0_53"/>
          <p:cNvSpPr txBox="1"/>
          <p:nvPr>
            <p:ph idx="1" type="body"/>
          </p:nvPr>
        </p:nvSpPr>
        <p:spPr>
          <a:xfrm>
            <a:off x="628650" y="921394"/>
            <a:ext cx="7886700" cy="371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str.contains("av");  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str.startsWith("Ja");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str.endsWith("va");  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str.indexOf("a");    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str.lastIndexOf("a");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a92fcdd48_0_59"/>
          <p:cNvSpPr txBox="1"/>
          <p:nvPr>
            <p:ph type="title"/>
          </p:nvPr>
        </p:nvSpPr>
        <p:spPr>
          <a:xfrm>
            <a:off x="628650" y="273844"/>
            <a:ext cx="7886700" cy="647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Splitting &amp; Joining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8a92fcdd48_0_59"/>
          <p:cNvSpPr txBox="1"/>
          <p:nvPr>
            <p:ph idx="1" type="body"/>
          </p:nvPr>
        </p:nvSpPr>
        <p:spPr>
          <a:xfrm>
            <a:off x="628650" y="921394"/>
            <a:ext cx="7886700" cy="371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String fruits = "apple,banana,orange";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String[] arr = fruits.split(",");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for(String f : arr) System.out.println(f);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String joined = String.join(" | ", "A", "B", "C");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// A | B | C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a92fcdd48_0_65"/>
          <p:cNvSpPr txBox="1"/>
          <p:nvPr>
            <p:ph type="title"/>
          </p:nvPr>
        </p:nvSpPr>
        <p:spPr>
          <a:xfrm>
            <a:off x="628650" y="273844"/>
            <a:ext cx="7886700" cy="647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String vs StringBuilder vs StringBuffer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8a92fcdd48_0_65"/>
          <p:cNvSpPr txBox="1"/>
          <p:nvPr>
            <p:ph idx="1" type="body"/>
          </p:nvPr>
        </p:nvSpPr>
        <p:spPr>
          <a:xfrm>
            <a:off x="628650" y="921394"/>
            <a:ext cx="7886700" cy="371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String:</a:t>
            </a:r>
            <a:r>
              <a:rPr lang="en" sz="1400"/>
              <a:t> Immutable.</a:t>
            </a:r>
            <a:br>
              <a:rPr lang="en" sz="1400"/>
            </a:b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StringBuilder:</a:t>
            </a:r>
            <a:r>
              <a:rPr lang="en" sz="1400"/>
              <a:t> Mutable, faster, not synchronized.</a:t>
            </a:r>
            <a:br>
              <a:rPr lang="en" sz="1400"/>
            </a:b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/>
              <a:t>StringBuffer:</a:t>
            </a:r>
            <a:r>
              <a:rPr lang="en" sz="1400"/>
              <a:t> Mutable, synchronized, thread-safe.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StringBuilder sb = new StringBuilder("Hello");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sb.append(" World");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System.out.println(sb); // Hello World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a92fcdd48_0_71"/>
          <p:cNvSpPr txBox="1"/>
          <p:nvPr>
            <p:ph type="title"/>
          </p:nvPr>
        </p:nvSpPr>
        <p:spPr>
          <a:xfrm>
            <a:off x="628650" y="273844"/>
            <a:ext cx="7886700" cy="647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Best Practices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8a92fcdd48_0_71"/>
          <p:cNvSpPr txBox="1"/>
          <p:nvPr>
            <p:ph idx="1" type="body"/>
          </p:nvPr>
        </p:nvSpPr>
        <p:spPr>
          <a:xfrm>
            <a:off x="628650" y="921394"/>
            <a:ext cx="7886700" cy="371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254000" lvl="0" marL="3429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StringBuilder</a:t>
            </a:r>
            <a:r>
              <a:rPr lang="en" sz="1400"/>
              <a:t> for concatenation in loops.</a:t>
            </a:r>
            <a:br>
              <a:rPr lang="en" sz="1400"/>
            </a:br>
            <a:endParaRPr sz="1400"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.equals()</a:t>
            </a:r>
            <a:r>
              <a:rPr lang="en" sz="1400"/>
              <a:t> not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" sz="1400"/>
              <a:t> for content comparison.</a:t>
            </a:r>
            <a:br>
              <a:rPr lang="en" sz="1400"/>
            </a:br>
            <a:endParaRPr sz="1400"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Prefer literals over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new String()</a:t>
            </a:r>
            <a:r>
              <a:rPr lang="en" sz="1400"/>
              <a:t>.</a:t>
            </a:r>
            <a:br>
              <a:rPr lang="en" sz="1400"/>
            </a:br>
            <a:endParaRPr sz="1400"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String.join()</a:t>
            </a:r>
            <a:r>
              <a:rPr lang="en" sz="1400"/>
              <a:t> or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String.format()</a:t>
            </a:r>
            <a:r>
              <a:rPr lang="en" sz="1400"/>
              <a:t> for readability.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   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